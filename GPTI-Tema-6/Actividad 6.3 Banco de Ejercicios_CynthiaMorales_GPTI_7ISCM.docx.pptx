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8FB837D-C827-4EFA-A057-4D05807E0F7C}" styleName="Estilo temático 1 - Énfasis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5DA37D80-6434-44D0-A028-1B22A696006F}" styleName="Estilo claro 3 - Acento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BDBED569-4797-4DF1-A0F4-6AAB3CD982D8}" styleName="Estilo claro 3 - Acento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59" d="100"/>
          <a:sy n="59" d="100"/>
        </p:scale>
        <p:origin x="940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9">
            <a:extLst>
              <a:ext uri="{FF2B5EF4-FFF2-40B4-BE49-F238E27FC236}">
                <a16:creationId xmlns:a16="http://schemas.microsoft.com/office/drawing/2014/main" id="{DD81888A-4D08-6ACD-27BE-5E300A927B8E}"/>
              </a:ext>
            </a:extLst>
          </p:cNvPr>
          <p:cNvSpPr txBox="1"/>
          <p:nvPr/>
        </p:nvSpPr>
        <p:spPr>
          <a:xfrm>
            <a:off x="2402908" y="1880767"/>
            <a:ext cx="7644625" cy="49244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sz="16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Materia:</a:t>
            </a:r>
          </a:p>
          <a:p>
            <a:pPr algn="ctr"/>
            <a:r>
              <a:rPr lang="en-US" sz="1600" dirty="0" err="1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Gestión</a:t>
            </a:r>
            <a:r>
              <a:rPr lang="en-US" sz="16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de </a:t>
            </a:r>
            <a:r>
              <a:rPr lang="en-US" sz="1600" dirty="0" err="1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Proyectos</a:t>
            </a:r>
            <a:r>
              <a:rPr lang="en-US" sz="16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TI</a:t>
            </a:r>
          </a:p>
          <a:p>
            <a:pPr algn="ctr"/>
            <a:endParaRPr lang="en-US" sz="1600" dirty="0">
              <a:solidFill>
                <a:srgbClr val="000000"/>
              </a:solidFill>
              <a:latin typeface="Century Gothic" panose="020B0502020202020204" pitchFamily="34" charset="0"/>
              <a:ea typeface="Glacial Indifference"/>
              <a:cs typeface="Glacial Indifference"/>
              <a:sym typeface="Glacial Indifference"/>
            </a:endParaRPr>
          </a:p>
          <a:p>
            <a:pPr algn="ctr"/>
            <a:r>
              <a:rPr lang="en-US" sz="16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Semestre: </a:t>
            </a:r>
          </a:p>
          <a:p>
            <a:pPr algn="ctr"/>
            <a:r>
              <a:rPr lang="en-US" sz="1600" dirty="0" err="1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Septimo</a:t>
            </a:r>
            <a:r>
              <a:rPr lang="en-US" sz="16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semestre </a:t>
            </a:r>
          </a:p>
          <a:p>
            <a:pPr algn="ctr"/>
            <a:endParaRPr lang="en-US" sz="1600" dirty="0">
              <a:solidFill>
                <a:srgbClr val="000000"/>
              </a:solidFill>
              <a:latin typeface="Century Gothic" panose="020B0502020202020204" pitchFamily="34" charset="0"/>
              <a:ea typeface="Glacial Indifference"/>
              <a:cs typeface="Glacial Indifference"/>
              <a:sym typeface="Glacial Indifference"/>
            </a:endParaRPr>
          </a:p>
          <a:p>
            <a:pPr algn="ctr"/>
            <a:r>
              <a:rPr lang="en-US" sz="16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Especialidad:</a:t>
            </a:r>
          </a:p>
          <a:p>
            <a:pPr algn="ctr"/>
            <a:r>
              <a:rPr lang="en-US" sz="16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Ingeniería en Sistemas Computacionales.</a:t>
            </a:r>
          </a:p>
          <a:p>
            <a:pPr algn="ctr"/>
            <a:endParaRPr lang="en-US" sz="1600" dirty="0">
              <a:solidFill>
                <a:srgbClr val="000000"/>
              </a:solidFill>
              <a:latin typeface="Century Gothic" panose="020B0502020202020204" pitchFamily="34" charset="0"/>
              <a:ea typeface="Glacial Indifference"/>
              <a:cs typeface="Glacial Indifference"/>
              <a:sym typeface="Glacial Indifference"/>
            </a:endParaRPr>
          </a:p>
          <a:p>
            <a:pPr algn="ctr"/>
            <a:r>
              <a:rPr lang="en-US" sz="16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Nombre del alumno:</a:t>
            </a:r>
          </a:p>
          <a:p>
            <a:pPr algn="ctr"/>
            <a:r>
              <a:rPr lang="en-US" sz="1600" b="1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Cynthia Jasmine Morales Torres / 231260014</a:t>
            </a:r>
          </a:p>
          <a:p>
            <a:pPr algn="ctr"/>
            <a:endParaRPr lang="en-US" sz="1600" dirty="0">
              <a:solidFill>
                <a:srgbClr val="000000"/>
              </a:solidFill>
              <a:latin typeface="Century Gothic" panose="020B0502020202020204" pitchFamily="34" charset="0"/>
              <a:ea typeface="Glacial Indifference"/>
              <a:cs typeface="Glacial Indifference"/>
              <a:sym typeface="Glacial Indifference"/>
            </a:endParaRPr>
          </a:p>
          <a:p>
            <a:pPr algn="ctr"/>
            <a:r>
              <a:rPr lang="en-US" sz="16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Nombre del docente: </a:t>
            </a:r>
          </a:p>
          <a:p>
            <a:pPr algn="ctr"/>
            <a:r>
              <a:rPr lang="en-US" sz="16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Ing. Francisco Javier Mingo Velazquez </a:t>
            </a:r>
          </a:p>
          <a:p>
            <a:pPr algn="ctr"/>
            <a:endParaRPr lang="en-US" sz="1600" dirty="0">
              <a:solidFill>
                <a:srgbClr val="000000"/>
              </a:solidFill>
              <a:latin typeface="Century Gothic" panose="020B0502020202020204" pitchFamily="34" charset="0"/>
              <a:ea typeface="Glacial Indifference"/>
              <a:cs typeface="Glacial Indifference"/>
              <a:sym typeface="Glacial Indifference"/>
            </a:endParaRPr>
          </a:p>
          <a:p>
            <a:pPr algn="ctr"/>
            <a:r>
              <a:rPr lang="en-US" sz="16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Nombre del trabajo:</a:t>
            </a:r>
          </a:p>
          <a:p>
            <a:pPr algn="ctr"/>
            <a:r>
              <a:rPr lang="en-US" sz="16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4.3 Banco de </a:t>
            </a:r>
            <a:r>
              <a:rPr lang="en-US" sz="1600" dirty="0" err="1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ejercicio</a:t>
            </a:r>
            <a:endParaRPr lang="en-US" sz="1600" dirty="0">
              <a:solidFill>
                <a:srgbClr val="000000"/>
              </a:solidFill>
              <a:latin typeface="Century Gothic" panose="020B0502020202020204" pitchFamily="34" charset="0"/>
              <a:ea typeface="Glacial Indifference"/>
              <a:cs typeface="Glacial Indifference"/>
              <a:sym typeface="Glacial Indifference"/>
            </a:endParaRPr>
          </a:p>
          <a:p>
            <a:pPr algn="ctr"/>
            <a:r>
              <a:rPr lang="en-US" sz="16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</a:t>
            </a:r>
          </a:p>
          <a:p>
            <a:pPr algn="ctr"/>
            <a:endParaRPr lang="en-US" sz="1600" dirty="0">
              <a:solidFill>
                <a:srgbClr val="000000"/>
              </a:solidFill>
              <a:latin typeface="Century Gothic" panose="020B0502020202020204" pitchFamily="34" charset="0"/>
              <a:ea typeface="Glacial Indifference"/>
              <a:cs typeface="Glacial Indifference"/>
              <a:sym typeface="Glacial Indifference"/>
            </a:endParaRPr>
          </a:p>
          <a:p>
            <a:pPr algn="ctr"/>
            <a:r>
              <a:rPr lang="en-US" sz="16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Frontera Comalapa, Chiapas. A 04 de </a:t>
            </a:r>
            <a:r>
              <a:rPr lang="en-US" sz="1600" dirty="0" err="1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octubre</a:t>
            </a:r>
            <a:r>
              <a:rPr lang="en-US" sz="16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2026.</a:t>
            </a:r>
          </a:p>
        </p:txBody>
      </p:sp>
      <p:sp>
        <p:nvSpPr>
          <p:cNvPr id="3" name="TextBox 8">
            <a:extLst>
              <a:ext uri="{FF2B5EF4-FFF2-40B4-BE49-F238E27FC236}">
                <a16:creationId xmlns:a16="http://schemas.microsoft.com/office/drawing/2014/main" id="{BE21617B-6362-A7AE-EF20-3C804239ECF2}"/>
              </a:ext>
            </a:extLst>
          </p:cNvPr>
          <p:cNvSpPr txBox="1"/>
          <p:nvPr/>
        </p:nvSpPr>
        <p:spPr>
          <a:xfrm>
            <a:off x="2046984" y="997338"/>
            <a:ext cx="8356475" cy="70923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908"/>
              </a:lnSpc>
            </a:pPr>
            <a:r>
              <a:rPr lang="en-US" sz="1600" b="1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Instituto Tecnológico de Frontera Comalapa </a:t>
            </a:r>
          </a:p>
          <a:p>
            <a:pPr algn="ctr">
              <a:lnSpc>
                <a:spcPts val="2908"/>
              </a:lnSpc>
            </a:pPr>
            <a:r>
              <a:rPr lang="en-US" sz="1600" b="1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Modalidad Mixta</a:t>
            </a:r>
          </a:p>
        </p:txBody>
      </p:sp>
      <p:grpSp>
        <p:nvGrpSpPr>
          <p:cNvPr id="4" name="Group 2">
            <a:extLst>
              <a:ext uri="{FF2B5EF4-FFF2-40B4-BE49-F238E27FC236}">
                <a16:creationId xmlns:a16="http://schemas.microsoft.com/office/drawing/2014/main" id="{57FAE371-2AB5-D0CB-7DA0-45B39CC2B532}"/>
              </a:ext>
            </a:extLst>
          </p:cNvPr>
          <p:cNvGrpSpPr/>
          <p:nvPr/>
        </p:nvGrpSpPr>
        <p:grpSpPr>
          <a:xfrm>
            <a:off x="1118708" y="31119"/>
            <a:ext cx="2709599" cy="1198176"/>
            <a:chOff x="0" y="0"/>
            <a:chExt cx="3073400" cy="1308100"/>
          </a:xfrm>
        </p:grpSpPr>
        <p:sp>
          <p:nvSpPr>
            <p:cNvPr id="7" name="Freeform 3">
              <a:extLst>
                <a:ext uri="{FF2B5EF4-FFF2-40B4-BE49-F238E27FC236}">
                  <a16:creationId xmlns:a16="http://schemas.microsoft.com/office/drawing/2014/main" id="{A4D3DCDE-BECE-2B58-5D4A-C5AEEC4A3894}"/>
                </a:ext>
              </a:extLst>
            </p:cNvPr>
            <p:cNvSpPr/>
            <p:nvPr/>
          </p:nvSpPr>
          <p:spPr>
            <a:xfrm>
              <a:off x="0" y="0"/>
              <a:ext cx="3073400" cy="1308100"/>
            </a:xfrm>
            <a:custGeom>
              <a:avLst/>
              <a:gdLst/>
              <a:ahLst/>
              <a:cxnLst/>
              <a:rect l="l" t="t" r="r" b="b"/>
              <a:pathLst>
                <a:path w="3073400" h="1308100">
                  <a:moveTo>
                    <a:pt x="0" y="0"/>
                  </a:moveTo>
                  <a:lnTo>
                    <a:pt x="3073400" y="0"/>
                  </a:lnTo>
                  <a:lnTo>
                    <a:pt x="3073400" y="1308100"/>
                  </a:lnTo>
                  <a:lnTo>
                    <a:pt x="0" y="1308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</p:grpSp>
      <p:grpSp>
        <p:nvGrpSpPr>
          <p:cNvPr id="8" name="Group 4">
            <a:extLst>
              <a:ext uri="{FF2B5EF4-FFF2-40B4-BE49-F238E27FC236}">
                <a16:creationId xmlns:a16="http://schemas.microsoft.com/office/drawing/2014/main" id="{303E4BD8-7963-65B3-C4DC-80CA47D8D54B}"/>
              </a:ext>
            </a:extLst>
          </p:cNvPr>
          <p:cNvGrpSpPr/>
          <p:nvPr/>
        </p:nvGrpSpPr>
        <p:grpSpPr>
          <a:xfrm>
            <a:off x="9459465" y="106714"/>
            <a:ext cx="1872270" cy="1245240"/>
            <a:chOff x="0" y="0"/>
            <a:chExt cx="1981200" cy="1625600"/>
          </a:xfrm>
        </p:grpSpPr>
        <p:sp>
          <p:nvSpPr>
            <p:cNvPr id="9" name="Freeform 5">
              <a:extLst>
                <a:ext uri="{FF2B5EF4-FFF2-40B4-BE49-F238E27FC236}">
                  <a16:creationId xmlns:a16="http://schemas.microsoft.com/office/drawing/2014/main" id="{31C12249-8241-C35D-81E0-5CC84282DDA3}"/>
                </a:ext>
              </a:extLst>
            </p:cNvPr>
            <p:cNvSpPr/>
            <p:nvPr/>
          </p:nvSpPr>
          <p:spPr>
            <a:xfrm>
              <a:off x="0" y="0"/>
              <a:ext cx="1981200" cy="1625600"/>
            </a:xfrm>
            <a:custGeom>
              <a:avLst/>
              <a:gdLst/>
              <a:ahLst/>
              <a:cxnLst/>
              <a:rect l="l" t="t" r="r" b="b"/>
              <a:pathLst>
                <a:path w="1981200" h="1625600">
                  <a:moveTo>
                    <a:pt x="0" y="0"/>
                  </a:moveTo>
                  <a:lnTo>
                    <a:pt x="1981200" y="0"/>
                  </a:lnTo>
                  <a:lnTo>
                    <a:pt x="1981200" y="1625600"/>
                  </a:lnTo>
                  <a:lnTo>
                    <a:pt x="0" y="1625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grpSp>
        <p:nvGrpSpPr>
          <p:cNvPr id="10" name="Group 6">
            <a:extLst>
              <a:ext uri="{FF2B5EF4-FFF2-40B4-BE49-F238E27FC236}">
                <a16:creationId xmlns:a16="http://schemas.microsoft.com/office/drawing/2014/main" id="{8F59C7A9-69D3-53D6-F060-2D8311BB8574}"/>
              </a:ext>
            </a:extLst>
          </p:cNvPr>
          <p:cNvGrpSpPr/>
          <p:nvPr/>
        </p:nvGrpSpPr>
        <p:grpSpPr>
          <a:xfrm>
            <a:off x="4609388" y="269788"/>
            <a:ext cx="3812814" cy="709234"/>
            <a:chOff x="0" y="0"/>
            <a:chExt cx="4343400" cy="901700"/>
          </a:xfrm>
        </p:grpSpPr>
        <p:sp>
          <p:nvSpPr>
            <p:cNvPr id="11" name="Freeform 7">
              <a:extLst>
                <a:ext uri="{FF2B5EF4-FFF2-40B4-BE49-F238E27FC236}">
                  <a16:creationId xmlns:a16="http://schemas.microsoft.com/office/drawing/2014/main" id="{F77E883A-3E44-E97F-F3B4-5A34353CF042}"/>
                </a:ext>
              </a:extLst>
            </p:cNvPr>
            <p:cNvSpPr/>
            <p:nvPr/>
          </p:nvSpPr>
          <p:spPr>
            <a:xfrm>
              <a:off x="0" y="0"/>
              <a:ext cx="4343400" cy="901700"/>
            </a:xfrm>
            <a:custGeom>
              <a:avLst/>
              <a:gdLst/>
              <a:ahLst/>
              <a:cxnLst/>
              <a:rect l="l" t="t" r="r" b="b"/>
              <a:pathLst>
                <a:path w="4343400" h="901700">
                  <a:moveTo>
                    <a:pt x="0" y="0"/>
                  </a:moveTo>
                  <a:lnTo>
                    <a:pt x="4343400" y="0"/>
                  </a:lnTo>
                  <a:lnTo>
                    <a:pt x="4343400" y="901700"/>
                  </a:lnTo>
                  <a:lnTo>
                    <a:pt x="0" y="9017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3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8686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2000" cy="64008"/>
          </a:xfrm>
          <a:prstGeom prst="rect">
            <a:avLst/>
          </a:prstGeom>
          <a:solidFill>
            <a:srgbClr val="2EB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1064240" cy="594360"/>
          </a:xfrm>
          <a:prstGeom prst="rect">
            <a:avLst/>
          </a:prstGeom>
          <a:noFill/>
        </p:spPr>
        <p:txBody>
          <a:bodyPr wrap="square" lIns="137160" rIns="13716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Arial"/>
              </a:rPr>
              <a:t>Estado de las historias en Jira: Corona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6126480" cy="4666488"/>
          </a:xfrm>
          <a:prstGeom prst="rect">
            <a:avLst/>
          </a:prstGeom>
          <a:solidFill>
            <a:srgbClr val="FFFFFF"/>
          </a:solidFill>
          <a:ln w="22225">
            <a:solidFill>
              <a:srgbClr val="2EB5C9"/>
            </a:solidFill>
          </a:ln>
        </p:spPr>
        <p:txBody>
          <a:bodyPr wrap="square" lIns="137160" rIns="137160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1900" b="1" i="0">
                <a:solidFill>
                  <a:srgbClr val="232323"/>
                </a:solidFill>
                <a:latin typeface="Arial"/>
              </a:rPr>
              <a:t>Con la lista de Jira de Corona, clasificar las historias por estado y calcular el porcentaje de avance.</a:t>
            </a:r>
          </a:p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232323"/>
                </a:solidFill>
                <a:latin typeface="Arial"/>
              </a:rPr>
              <a:t>SOLUCIÓN:</a:t>
            </a:r>
          </a:p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232323"/>
                </a:solidFill>
                <a:latin typeface="Arial"/>
              </a:rPr>
              <a:t>• Listo: SC-1, SC-2 y SC-3 (3 historias).</a:t>
            </a:r>
          </a:p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232323"/>
                </a:solidFill>
                <a:latin typeface="Arial"/>
              </a:rPr>
              <a:t>• En curso: SC-4, SC-5 y SC-6 (3 historias).</a:t>
            </a:r>
          </a:p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232323"/>
                </a:solidFill>
                <a:latin typeface="Arial"/>
              </a:rPr>
              <a:t>• Por hacer: SC-7, SC-8, SC-9 y SC-10 (4 historias).</a:t>
            </a:r>
          </a:p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232323"/>
                </a:solidFill>
                <a:latin typeface="Arial"/>
              </a:rPr>
              <a:t>• La épica SC-11 «Simulación Corona» está en curso y no se cuenta como historia.</a:t>
            </a:r>
          </a:p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232323"/>
                </a:solidFill>
                <a:latin typeface="Arial"/>
              </a:rPr>
              <a:t>• Avance = 3 ÷ 10 × 100 = 30 %.</a:t>
            </a:r>
          </a:p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232323"/>
                </a:solidFill>
                <a:latin typeface="Arial"/>
              </a:rPr>
              <a:t>RESULTADO: Corona lleva 30 % de avance según Jira.</a:t>
            </a:r>
          </a:p>
        </p:txBody>
      </p:sp>
      <p:pic>
        <p:nvPicPr>
          <p:cNvPr id="6" name="Picture 5" descr="1791067855617_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1188720"/>
            <a:ext cx="5212080" cy="2124837"/>
          </a:xfrm>
          <a:prstGeom prst="rect">
            <a:avLst/>
          </a:prstGeom>
          <a:ln w="9525">
            <a:solidFill>
              <a:srgbClr val="A6A6A6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629400" y="3359277"/>
            <a:ext cx="5212080" cy="274320"/>
          </a:xfrm>
          <a:prstGeom prst="rect">
            <a:avLst/>
          </a:prstGeom>
          <a:noFill/>
        </p:spPr>
        <p:txBody>
          <a:bodyPr wrap="square" lIns="137160" rIns="13716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Lista de actividades de Jira: Corona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3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8686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2000" cy="64008"/>
          </a:xfrm>
          <a:prstGeom prst="rect">
            <a:avLst/>
          </a:prstGeom>
          <a:solidFill>
            <a:srgbClr val="2EB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1064240" cy="594360"/>
          </a:xfrm>
          <a:prstGeom prst="rect">
            <a:avLst/>
          </a:prstGeom>
          <a:noFill/>
        </p:spPr>
        <p:txBody>
          <a:bodyPr wrap="square" lIns="137160" rIns="13716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Arial"/>
              </a:rPr>
              <a:t>Tablero de Trello: Corona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6126480" cy="4956047"/>
          </a:xfrm>
          <a:prstGeom prst="rect">
            <a:avLst/>
          </a:prstGeom>
          <a:solidFill>
            <a:srgbClr val="FFFFFF"/>
          </a:solidFill>
          <a:ln w="22225">
            <a:solidFill>
              <a:srgbClr val="2EB5C9"/>
            </a:solidFill>
          </a:ln>
        </p:spPr>
        <p:txBody>
          <a:bodyPr wrap="square" lIns="137160" rIns="137160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1900" b="1" i="0">
                <a:solidFill>
                  <a:srgbClr val="232323"/>
                </a:solidFill>
                <a:latin typeface="Arial"/>
              </a:rPr>
              <a:t>Interpretar el tablero de Trello de Corona y verificar si coincide con Jira.</a:t>
            </a:r>
          </a:p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232323"/>
                </a:solidFill>
                <a:latin typeface="Arial"/>
              </a:rPr>
              <a:t>SOLUCIÓN:</a:t>
            </a:r>
          </a:p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232323"/>
                </a:solidFill>
                <a:latin typeface="Arial"/>
              </a:rPr>
              <a:t>• Por hacer (4): SC-7, SC-8, SC-9 y SC-10.</a:t>
            </a:r>
          </a:p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232323"/>
                </a:solidFill>
                <a:latin typeface="Arial"/>
              </a:rPr>
              <a:t>• En proceso (4): SC-4, SC-5, SC-6 y SC-11 (la épica).</a:t>
            </a:r>
          </a:p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232323"/>
                </a:solidFill>
                <a:latin typeface="Arial"/>
              </a:rPr>
              <a:t>• Hecho (3): SC-1, SC-2 y SC-3.</a:t>
            </a:r>
          </a:p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232323"/>
                </a:solidFill>
                <a:latin typeface="Arial"/>
              </a:rPr>
              <a:t>• Los estados coinciden con los de Jira.</a:t>
            </a:r>
          </a:p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232323"/>
                </a:solidFill>
                <a:latin typeface="Arial"/>
              </a:rPr>
              <a:t>• Diferencia: SC-6 aparece del 28 de septiembre al 5 de octubre en Trello, pero en Jira vence el 11 de octubre.</a:t>
            </a:r>
          </a:p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232323"/>
                </a:solidFill>
                <a:latin typeface="Arial"/>
              </a:rPr>
              <a:t>RESULTADO: los estados son consistentes, pero la fecha de SC-6 debe corregirse para que ambas herramientas coincidan.</a:t>
            </a:r>
          </a:p>
        </p:txBody>
      </p:sp>
      <p:pic>
        <p:nvPicPr>
          <p:cNvPr id="6" name="Picture 5" descr="1791068913309_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1188720"/>
            <a:ext cx="5212080" cy="2668693"/>
          </a:xfrm>
          <a:prstGeom prst="rect">
            <a:avLst/>
          </a:prstGeom>
          <a:ln w="9525">
            <a:solidFill>
              <a:srgbClr val="A6A6A6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629400" y="3903133"/>
            <a:ext cx="5212080" cy="274320"/>
          </a:xfrm>
          <a:prstGeom prst="rect">
            <a:avLst/>
          </a:prstGeom>
          <a:noFill/>
        </p:spPr>
        <p:txBody>
          <a:bodyPr wrap="square" lIns="137160" rIns="13716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Tablero de Trello: Corona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3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8686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2000" cy="64008"/>
          </a:xfrm>
          <a:prstGeom prst="rect">
            <a:avLst/>
          </a:prstGeom>
          <a:solidFill>
            <a:srgbClr val="2EB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1064240" cy="594360"/>
          </a:xfrm>
          <a:prstGeom prst="rect">
            <a:avLst/>
          </a:prstGeom>
          <a:noFill/>
        </p:spPr>
        <p:txBody>
          <a:bodyPr wrap="square" lIns="137160" rIns="13716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Arial"/>
              </a:rPr>
              <a:t>Diagrama de Gantt: Corona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6126480" cy="5458968"/>
          </a:xfrm>
          <a:prstGeom prst="rect">
            <a:avLst/>
          </a:prstGeom>
          <a:solidFill>
            <a:srgbClr val="FFFFFF"/>
          </a:solidFill>
          <a:ln w="22225">
            <a:solidFill>
              <a:srgbClr val="2EB5C9"/>
            </a:solidFill>
          </a:ln>
        </p:spPr>
        <p:txBody>
          <a:bodyPr wrap="square" lIns="137160" rIns="137160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1900" b="1" i="0">
                <a:solidFill>
                  <a:srgbClr val="232323"/>
                </a:solidFill>
                <a:latin typeface="Arial"/>
              </a:rPr>
              <a:t>Explicar qué información aporta el Gantt de Corona y qué ocurre si una tarea se retrasa.</a:t>
            </a:r>
          </a:p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232323"/>
                </a:solidFill>
                <a:latin typeface="Arial"/>
              </a:rPr>
              <a:t>SOLUCIÓN:</a:t>
            </a:r>
          </a:p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232323"/>
                </a:solidFill>
                <a:latin typeface="Arial"/>
              </a:rPr>
              <a:t>• Muestra 7 tareas en barras, unidas por flechas que indican dependencias.</a:t>
            </a:r>
          </a:p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232323"/>
                </a:solidFill>
                <a:latin typeface="Arial"/>
              </a:rPr>
              <a:t>• La línea roja punteada señala la fecha actual (inicio de octubre).</a:t>
            </a:r>
          </a:p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232323"/>
                </a:solidFill>
                <a:latin typeface="Arial"/>
              </a:rPr>
              <a:t>• Cada tarea indica su responsable o recursos asignados (por ejemplo «Responsable del proyecto» y «R; C; H»).</a:t>
            </a:r>
          </a:p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232323"/>
                </a:solidFill>
                <a:latin typeface="Arial"/>
              </a:rPr>
              <a:t>• Si una tarea se retrasa, las tareas sucesoras enlazadas se desplazan y también la fecha final.</a:t>
            </a:r>
          </a:p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232323"/>
                </a:solidFill>
                <a:latin typeface="Arial"/>
              </a:rPr>
              <a:t>RESULTADO: el Gantt permite ver la secuencia del proyecto y anticipar el impacto de un retraso.</a:t>
            </a:r>
          </a:p>
        </p:txBody>
      </p:sp>
      <p:pic>
        <p:nvPicPr>
          <p:cNvPr id="6" name="Picture 5" descr="1791067787700_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1188720"/>
            <a:ext cx="5212080" cy="1673888"/>
          </a:xfrm>
          <a:prstGeom prst="rect">
            <a:avLst/>
          </a:prstGeom>
          <a:ln w="9525">
            <a:solidFill>
              <a:srgbClr val="A6A6A6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629400" y="2908328"/>
            <a:ext cx="5212080" cy="274320"/>
          </a:xfrm>
          <a:prstGeom prst="rect">
            <a:avLst/>
          </a:prstGeom>
          <a:noFill/>
        </p:spPr>
        <p:txBody>
          <a:bodyPr wrap="square" lIns="137160" rIns="13716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Diagrama de Gantt: Corona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3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8686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2000" cy="64008"/>
          </a:xfrm>
          <a:prstGeom prst="rect">
            <a:avLst/>
          </a:prstGeom>
          <a:solidFill>
            <a:srgbClr val="2EB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1064240" cy="594360"/>
          </a:xfrm>
          <a:prstGeom prst="rect">
            <a:avLst/>
          </a:prstGeom>
          <a:noFill/>
        </p:spPr>
        <p:txBody>
          <a:bodyPr wrap="square" lIns="137160" rIns="13716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Arial"/>
              </a:rPr>
              <a:t>Estado de las historias en Jira: Banco Bansiso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6126480" cy="4956048"/>
          </a:xfrm>
          <a:prstGeom prst="rect">
            <a:avLst/>
          </a:prstGeom>
          <a:solidFill>
            <a:srgbClr val="FFFFFF"/>
          </a:solidFill>
          <a:ln w="22225">
            <a:solidFill>
              <a:srgbClr val="2EB5C9"/>
            </a:solidFill>
          </a:ln>
        </p:spPr>
        <p:txBody>
          <a:bodyPr wrap="square" lIns="137160" rIns="137160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1900" b="1" i="0">
                <a:solidFill>
                  <a:srgbClr val="232323"/>
                </a:solidFill>
                <a:latin typeface="Arial"/>
              </a:rPr>
              <a:t>Con la lista de Jira de Banco Bansiso, determinar el avance y las historias que vencen primero.</a:t>
            </a:r>
          </a:p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232323"/>
                </a:solidFill>
                <a:latin typeface="Arial"/>
              </a:rPr>
              <a:t>SOLUCIÓN:</a:t>
            </a:r>
          </a:p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232323"/>
                </a:solidFill>
                <a:latin typeface="Arial"/>
              </a:rPr>
              <a:t>• Listo: SBB-1, SBB-2 y SBB-3 (3 historias).</a:t>
            </a:r>
          </a:p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232323"/>
                </a:solidFill>
                <a:latin typeface="Arial"/>
              </a:rPr>
              <a:t>• En curso: SBB-4, SBB-5, SBB-6 y SBB-7 (4 historias); vencen el 4 de octubre.</a:t>
            </a:r>
          </a:p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232323"/>
                </a:solidFill>
                <a:latin typeface="Arial"/>
              </a:rPr>
              <a:t>• Por hacer: SBB-8, SBB-9 y SBB-10 (3 historias); vencen el 11 de octubre.</a:t>
            </a:r>
          </a:p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232323"/>
                </a:solidFill>
                <a:latin typeface="Arial"/>
              </a:rPr>
              <a:t>• Avance = 3 ÷ 10 × 100 = 30 %.</a:t>
            </a:r>
          </a:p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232323"/>
                </a:solidFill>
                <a:latin typeface="Arial"/>
              </a:rPr>
              <a:t>• Prioridad: 7 historias High y 3 Medium.</a:t>
            </a:r>
          </a:p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232323"/>
                </a:solidFill>
                <a:latin typeface="Arial"/>
              </a:rPr>
              <a:t>RESULTADO: Banco Bansiso lleva 30 % de avance y tiene 4 historias en curso que vencen el 4 de octubre.</a:t>
            </a:r>
          </a:p>
        </p:txBody>
      </p:sp>
      <p:pic>
        <p:nvPicPr>
          <p:cNvPr id="6" name="Picture 5" descr="1791068959640_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1188720"/>
            <a:ext cx="5212080" cy="1854976"/>
          </a:xfrm>
          <a:prstGeom prst="rect">
            <a:avLst/>
          </a:prstGeom>
          <a:ln w="9525">
            <a:solidFill>
              <a:srgbClr val="A6A6A6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629400" y="3089416"/>
            <a:ext cx="5212080" cy="274320"/>
          </a:xfrm>
          <a:prstGeom prst="rect">
            <a:avLst/>
          </a:prstGeom>
          <a:noFill/>
        </p:spPr>
        <p:txBody>
          <a:bodyPr wrap="square" lIns="137160" rIns="13716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Lista de actividades de Jira: Banco Bansiso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3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8686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2000" cy="64008"/>
          </a:xfrm>
          <a:prstGeom prst="rect">
            <a:avLst/>
          </a:prstGeom>
          <a:solidFill>
            <a:srgbClr val="2EB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1064240" cy="594360"/>
          </a:xfrm>
          <a:prstGeom prst="rect">
            <a:avLst/>
          </a:prstGeom>
          <a:noFill/>
        </p:spPr>
        <p:txBody>
          <a:bodyPr wrap="square" lIns="137160" rIns="13716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Arial"/>
              </a:rPr>
              <a:t>Tablero de Trello: Banco Bansiso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6126480" cy="4879847"/>
          </a:xfrm>
          <a:prstGeom prst="rect">
            <a:avLst/>
          </a:prstGeom>
          <a:solidFill>
            <a:srgbClr val="FFFFFF"/>
          </a:solidFill>
          <a:ln w="22225">
            <a:solidFill>
              <a:srgbClr val="2EB5C9"/>
            </a:solidFill>
          </a:ln>
        </p:spPr>
        <p:txBody>
          <a:bodyPr wrap="square" lIns="137160" rIns="137160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1900" b="1" i="0">
                <a:solidFill>
                  <a:srgbClr val="232323"/>
                </a:solidFill>
                <a:latin typeface="Arial"/>
              </a:rPr>
              <a:t>Calcular el avance según Trello y explicar por qué difiere del avance en Jira.</a:t>
            </a:r>
          </a:p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232323"/>
                </a:solidFill>
                <a:latin typeface="Arial"/>
              </a:rPr>
              <a:t>SOLUCIÓN:</a:t>
            </a:r>
          </a:p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232323"/>
                </a:solidFill>
                <a:latin typeface="Arial"/>
              </a:rPr>
              <a:t>• Trello tiene 6 tarjetas (B01 a B06): 3 en Terminado, 2 en En proceso y 1 en Por hacer; Revisión no tiene tarjetas.</a:t>
            </a:r>
          </a:p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232323"/>
                </a:solidFill>
                <a:latin typeface="Arial"/>
              </a:rPr>
              <a:t>• Avance en Trello = 3 ÷ 6 × 100 = 50 %.</a:t>
            </a:r>
          </a:p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232323"/>
                </a:solidFill>
                <a:latin typeface="Arial"/>
              </a:rPr>
              <a:t>• Avance en Jira = 3 ÷ 10 × 100 = 30 %.</a:t>
            </a:r>
          </a:p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232323"/>
                </a:solidFill>
                <a:latin typeface="Arial"/>
              </a:rPr>
              <a:t>• La diferencia se debe al nivel de detalle: Trello agrupa el trabajo en 6 etapas y Jira lo divide en 10 historias.</a:t>
            </a:r>
          </a:p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232323"/>
                </a:solidFill>
                <a:latin typeface="Arial"/>
              </a:rPr>
              <a:t>RESULTADO: para reportar un solo avance se debe usar la misma lista de actividades en ambas herramientas.</a:t>
            </a:r>
          </a:p>
        </p:txBody>
      </p:sp>
      <p:pic>
        <p:nvPicPr>
          <p:cNvPr id="6" name="Picture 5" descr="1791068132093_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1188720"/>
            <a:ext cx="5212080" cy="2656220"/>
          </a:xfrm>
          <a:prstGeom prst="rect">
            <a:avLst/>
          </a:prstGeom>
          <a:ln w="9525">
            <a:solidFill>
              <a:srgbClr val="A6A6A6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629400" y="3890660"/>
            <a:ext cx="5212080" cy="274320"/>
          </a:xfrm>
          <a:prstGeom prst="rect">
            <a:avLst/>
          </a:prstGeom>
          <a:noFill/>
        </p:spPr>
        <p:txBody>
          <a:bodyPr wrap="square" lIns="137160" rIns="13716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Tablero de Trello: Banco Bansiso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3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8686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2000" cy="64008"/>
          </a:xfrm>
          <a:prstGeom prst="rect">
            <a:avLst/>
          </a:prstGeom>
          <a:solidFill>
            <a:srgbClr val="2EB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1064240" cy="594360"/>
          </a:xfrm>
          <a:prstGeom prst="rect">
            <a:avLst/>
          </a:prstGeom>
          <a:noFill/>
        </p:spPr>
        <p:txBody>
          <a:bodyPr wrap="square" lIns="137160" rIns="13716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Arial"/>
              </a:rPr>
              <a:t>Diagrama de Gantt: Banco Bansiso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6126480" cy="5169408"/>
          </a:xfrm>
          <a:prstGeom prst="rect">
            <a:avLst/>
          </a:prstGeom>
          <a:solidFill>
            <a:srgbClr val="FFFFFF"/>
          </a:solidFill>
          <a:ln w="22225">
            <a:solidFill>
              <a:srgbClr val="2EB5C9"/>
            </a:solidFill>
          </a:ln>
        </p:spPr>
        <p:txBody>
          <a:bodyPr wrap="square" lIns="137160" rIns="137160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1900" b="1" i="0">
                <a:solidFill>
                  <a:srgbClr val="232323"/>
                </a:solidFill>
                <a:latin typeface="Arial"/>
              </a:rPr>
              <a:t>Analizar el Gantt de Banco Bansiso e indicar cómo se relacionan sus tareas.</a:t>
            </a:r>
          </a:p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232323"/>
                </a:solidFill>
                <a:latin typeface="Arial"/>
              </a:rPr>
              <a:t>SOLUCIÓN:</a:t>
            </a:r>
          </a:p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232323"/>
                </a:solidFill>
                <a:latin typeface="Arial"/>
              </a:rPr>
              <a:t>• Presenta 6 tareas con dependencias marcadas por flechas.</a:t>
            </a:r>
          </a:p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232323"/>
                </a:solidFill>
                <a:latin typeface="Arial"/>
              </a:rPr>
              <a:t>• Las dos primeras tareas inician el mismo día; las siguientes dependen de tareas anteriores.</a:t>
            </a:r>
          </a:p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232323"/>
                </a:solidFill>
                <a:latin typeface="Arial"/>
              </a:rPr>
              <a:t>• Los recursos asignados son «Responsable del proyecto», «Computadora» y R; C; J.</a:t>
            </a:r>
          </a:p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232323"/>
                </a:solidFill>
                <a:latin typeface="Arial"/>
              </a:rPr>
              <a:t>• Un retraso en una tarea intermedia desplaza las tareas siguientes y puede afectar la fecha de la épica (11 de octubre).</a:t>
            </a:r>
          </a:p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232323"/>
                </a:solidFill>
                <a:latin typeface="Arial"/>
              </a:rPr>
              <a:t>RESULTADO: el proyecto es secuencial, por lo que los retrasos se acumulan hasta la entrega.</a:t>
            </a:r>
          </a:p>
        </p:txBody>
      </p:sp>
      <p:pic>
        <p:nvPicPr>
          <p:cNvPr id="6" name="Picture 5" descr="1791069023169_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1188720"/>
            <a:ext cx="5212080" cy="1469766"/>
          </a:xfrm>
          <a:prstGeom prst="rect">
            <a:avLst/>
          </a:prstGeom>
          <a:ln w="9525">
            <a:solidFill>
              <a:srgbClr val="A6A6A6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629400" y="2704206"/>
            <a:ext cx="5212080" cy="274320"/>
          </a:xfrm>
          <a:prstGeom prst="rect">
            <a:avLst/>
          </a:prstGeom>
          <a:noFill/>
        </p:spPr>
        <p:txBody>
          <a:bodyPr wrap="square" lIns="137160" rIns="13716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Diagrama de Gantt: Banco Bansiso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3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8686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2000" cy="64008"/>
          </a:xfrm>
          <a:prstGeom prst="rect">
            <a:avLst/>
          </a:prstGeom>
          <a:solidFill>
            <a:srgbClr val="2EB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1064240" cy="594360"/>
          </a:xfrm>
          <a:prstGeom prst="rect">
            <a:avLst/>
          </a:prstGeom>
          <a:noFill/>
        </p:spPr>
        <p:txBody>
          <a:bodyPr wrap="square" lIns="137160" rIns="13716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Arial"/>
              </a:rPr>
              <a:t>Estado de las historias en Jira: Fábrica de galletas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6126480" cy="4879848"/>
          </a:xfrm>
          <a:prstGeom prst="rect">
            <a:avLst/>
          </a:prstGeom>
          <a:solidFill>
            <a:srgbClr val="FFFFFF"/>
          </a:solidFill>
          <a:ln w="22225">
            <a:solidFill>
              <a:srgbClr val="2EB5C9"/>
            </a:solidFill>
          </a:ln>
        </p:spPr>
        <p:txBody>
          <a:bodyPr wrap="square" lIns="137160" rIns="137160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1900" b="1" i="0">
                <a:solidFill>
                  <a:srgbClr val="232323"/>
                </a:solidFill>
                <a:latin typeface="Arial"/>
              </a:rPr>
              <a:t>Clasificar las historias de Fábrica de galletas por estado e identificar las que tienen fecha vencida.</a:t>
            </a:r>
          </a:p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232323"/>
                </a:solidFill>
                <a:latin typeface="Arial"/>
              </a:rPr>
              <a:t>SOLUCIÓN:</a:t>
            </a:r>
          </a:p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232323"/>
                </a:solidFill>
                <a:latin typeface="Arial"/>
              </a:rPr>
              <a:t>• Listo: FDG-1, FDG-2, FDG-3 y FDG-4 (4 historias).</a:t>
            </a:r>
          </a:p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232323"/>
                </a:solidFill>
                <a:latin typeface="Arial"/>
              </a:rPr>
              <a:t>• En curso: FDG-5 y FDG-6 (2 historias); vencían el 19 de septiembre.</a:t>
            </a:r>
          </a:p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232323"/>
                </a:solidFill>
                <a:latin typeface="Arial"/>
              </a:rPr>
              <a:t>• Por hacer: FDG-7, FDG-8, FDG-9 y FDG-10 (4 historias); FDG-7 venció el 26 de septiembre.</a:t>
            </a:r>
          </a:p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232323"/>
                </a:solidFill>
                <a:latin typeface="Arial"/>
              </a:rPr>
              <a:t>• Avance = 4 ÷ 10 × 100 = 40 %.</a:t>
            </a:r>
          </a:p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232323"/>
                </a:solidFill>
                <a:latin typeface="Arial"/>
              </a:rPr>
              <a:t>RESULTADO: el proyecto lleva 40 % de avance y tres historias (FDG-5, FDG-6 y FDG-7) con fecha de vencimiento ya pasada.</a:t>
            </a:r>
          </a:p>
        </p:txBody>
      </p:sp>
      <p:pic>
        <p:nvPicPr>
          <p:cNvPr id="6" name="Picture 5" descr="1791069073784_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1188720"/>
            <a:ext cx="5212080" cy="1828043"/>
          </a:xfrm>
          <a:prstGeom prst="rect">
            <a:avLst/>
          </a:prstGeom>
          <a:ln w="9525">
            <a:solidFill>
              <a:srgbClr val="A6A6A6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629400" y="3062483"/>
            <a:ext cx="5212080" cy="274320"/>
          </a:xfrm>
          <a:prstGeom prst="rect">
            <a:avLst/>
          </a:prstGeom>
          <a:noFill/>
        </p:spPr>
        <p:txBody>
          <a:bodyPr wrap="square" lIns="137160" rIns="13716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Lista de actividades de Jira: Fábrica de galletas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3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8686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2000" cy="64008"/>
          </a:xfrm>
          <a:prstGeom prst="rect">
            <a:avLst/>
          </a:prstGeom>
          <a:solidFill>
            <a:srgbClr val="2EB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1064240" cy="594360"/>
          </a:xfrm>
          <a:prstGeom prst="rect">
            <a:avLst/>
          </a:prstGeom>
          <a:noFill/>
        </p:spPr>
        <p:txBody>
          <a:bodyPr wrap="square" lIns="137160" rIns="13716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Arial"/>
              </a:rPr>
              <a:t>Tablero de Trello: Fábrica de galletas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6126480" cy="4879848"/>
          </a:xfrm>
          <a:prstGeom prst="rect">
            <a:avLst/>
          </a:prstGeom>
          <a:solidFill>
            <a:srgbClr val="FFFFFF"/>
          </a:solidFill>
          <a:ln w="22225">
            <a:solidFill>
              <a:srgbClr val="2EB5C9"/>
            </a:solidFill>
          </a:ln>
        </p:spPr>
        <p:txBody>
          <a:bodyPr wrap="square" lIns="137160" rIns="137160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1900" b="1" i="0">
                <a:solidFill>
                  <a:srgbClr val="232323"/>
                </a:solidFill>
                <a:latin typeface="Arial"/>
              </a:rPr>
              <a:t>Comparar Trello con Jira e identificar las inconsistencias.</a:t>
            </a:r>
          </a:p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232323"/>
                </a:solidFill>
                <a:latin typeface="Arial"/>
              </a:rPr>
              <a:t>SOLUCIÓN:</a:t>
            </a:r>
          </a:p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232323"/>
                </a:solidFill>
                <a:latin typeface="Arial"/>
              </a:rPr>
              <a:t>• Trello: 4 en Por hacer, 3 en En proceso (incluye la épica FDG-11) y 4 en Hecho.</a:t>
            </a:r>
          </a:p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232323"/>
                </a:solidFill>
                <a:latin typeface="Arial"/>
              </a:rPr>
              <a:t>• FDG-7 está marcada como completada en Trello, pero en Jira sigue Por hacer.</a:t>
            </a:r>
          </a:p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232323"/>
                </a:solidFill>
                <a:latin typeface="Arial"/>
              </a:rPr>
              <a:t>• FDG-5 y FDG-6 tienen marca de completadas en Trello, pero en Jira están En curso.</a:t>
            </a:r>
          </a:p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232323"/>
                </a:solidFill>
                <a:latin typeface="Arial"/>
              </a:rPr>
              <a:t>• FDG-4 aparece del 6 al 18 de agosto en Trello; en Jira es del 6 al 19 de septiembre.</a:t>
            </a:r>
          </a:p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232323"/>
                </a:solidFill>
                <a:latin typeface="Arial"/>
              </a:rPr>
              <a:t>RESULTADO: las dos herramientas no muestran el mismo estado ni las mismas fechas; deben actualizarse para coincidir.</a:t>
            </a:r>
          </a:p>
        </p:txBody>
      </p:sp>
      <p:pic>
        <p:nvPicPr>
          <p:cNvPr id="6" name="Picture 5" descr="1791070042973_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1188720"/>
            <a:ext cx="5212080" cy="2551958"/>
          </a:xfrm>
          <a:prstGeom prst="rect">
            <a:avLst/>
          </a:prstGeom>
          <a:ln w="9525">
            <a:solidFill>
              <a:srgbClr val="A6A6A6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629400" y="3786398"/>
            <a:ext cx="5212080" cy="274320"/>
          </a:xfrm>
          <a:prstGeom prst="rect">
            <a:avLst/>
          </a:prstGeom>
          <a:noFill/>
        </p:spPr>
        <p:txBody>
          <a:bodyPr wrap="square" lIns="137160" rIns="13716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Tablero de Trello: Fábrica de galletas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3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8686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2000" cy="64008"/>
          </a:xfrm>
          <a:prstGeom prst="rect">
            <a:avLst/>
          </a:prstGeom>
          <a:solidFill>
            <a:srgbClr val="2EB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1064240" cy="594360"/>
          </a:xfrm>
          <a:prstGeom prst="rect">
            <a:avLst/>
          </a:prstGeom>
          <a:noFill/>
        </p:spPr>
        <p:txBody>
          <a:bodyPr wrap="square" lIns="137160" rIns="13716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Arial"/>
              </a:rPr>
              <a:t>Diagrama de Gantt: Fábrica de galletas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6126480" cy="5824728"/>
          </a:xfrm>
          <a:prstGeom prst="rect">
            <a:avLst/>
          </a:prstGeom>
          <a:solidFill>
            <a:srgbClr val="FFFFFF"/>
          </a:solidFill>
          <a:ln w="22225">
            <a:solidFill>
              <a:srgbClr val="2EB5C9"/>
            </a:solidFill>
          </a:ln>
        </p:spPr>
        <p:txBody>
          <a:bodyPr wrap="square" lIns="137160" rIns="137160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1900" b="1" i="0">
                <a:solidFill>
                  <a:srgbClr val="232323"/>
                </a:solidFill>
                <a:latin typeface="Arial"/>
              </a:rPr>
              <a:t>Identificar las herramientas asignadas en el Gantt y la secuencia del proyecto.</a:t>
            </a:r>
          </a:p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232323"/>
                </a:solidFill>
                <a:latin typeface="Arial"/>
              </a:rPr>
              <a:t>SOLUCIÓN:</a:t>
            </a:r>
          </a:p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232323"/>
                </a:solidFill>
                <a:latin typeface="Arial"/>
              </a:rPr>
              <a:t>• Presenta 7 tareas encadenadas por dependencias.</a:t>
            </a:r>
          </a:p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232323"/>
                </a:solidFill>
                <a:latin typeface="Arial"/>
              </a:rPr>
              <a:t>• Todas tienen como recurso al «Responsable del proyecto».</a:t>
            </a:r>
          </a:p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232323"/>
                </a:solidFill>
                <a:latin typeface="Arial"/>
              </a:rPr>
              <a:t>• Camunda Modeler está asignado a la tarea de diseño del modelo BPMN.</a:t>
            </a:r>
          </a:p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232323"/>
                </a:solidFill>
                <a:latin typeface="Arial"/>
              </a:rPr>
              <a:t>• IntelliJ IDEA está asignado a tres tareas de simulación.</a:t>
            </a:r>
          </a:p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232323"/>
                </a:solidFill>
                <a:latin typeface="Arial"/>
              </a:rPr>
              <a:t>• La épica FDG-11 va del 23 de agosto al 4 de octubre; la línea roja de fecha actual está cerca del final.</a:t>
            </a:r>
          </a:p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232323"/>
                </a:solidFill>
                <a:latin typeface="Arial"/>
              </a:rPr>
              <a:t>RESULTADO: el modelado se realiza en Camunda Modeler, la simulación en IntelliJ IDEA y la fecha límite está próxima.</a:t>
            </a:r>
          </a:p>
        </p:txBody>
      </p:sp>
      <p:pic>
        <p:nvPicPr>
          <p:cNvPr id="6" name="Picture 5" descr="1791069106025_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1188720"/>
            <a:ext cx="5212080" cy="1515629"/>
          </a:xfrm>
          <a:prstGeom prst="rect">
            <a:avLst/>
          </a:prstGeom>
          <a:ln w="9525">
            <a:solidFill>
              <a:srgbClr val="A6A6A6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629400" y="2750069"/>
            <a:ext cx="5212080" cy="274320"/>
          </a:xfrm>
          <a:prstGeom prst="rect">
            <a:avLst/>
          </a:prstGeom>
          <a:noFill/>
        </p:spPr>
        <p:txBody>
          <a:bodyPr wrap="square" lIns="137160" rIns="13716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Diagrama de Gantt: Fábrica de galletas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3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8686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2000" cy="64008"/>
          </a:xfrm>
          <a:prstGeom prst="rect">
            <a:avLst/>
          </a:prstGeom>
          <a:solidFill>
            <a:srgbClr val="2EB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1064240" cy="594360"/>
          </a:xfrm>
          <a:prstGeom prst="rect">
            <a:avLst/>
          </a:prstGeom>
          <a:noFill/>
        </p:spPr>
        <p:txBody>
          <a:bodyPr wrap="square" lIns="137160" rIns="13716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Arial"/>
              </a:rPr>
              <a:t>Actividades próximas a vencer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1247120" cy="3706367"/>
          </a:xfrm>
          <a:prstGeom prst="rect">
            <a:avLst/>
          </a:prstGeom>
          <a:solidFill>
            <a:srgbClr val="FFFFFF"/>
          </a:solidFill>
          <a:ln w="22225">
            <a:solidFill>
              <a:srgbClr val="2EB5C9"/>
            </a:solidFill>
          </a:ln>
        </p:spPr>
        <p:txBody>
          <a:bodyPr wrap="square" lIns="137160" rIns="137160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2100" b="1" i="0">
                <a:solidFill>
                  <a:srgbClr val="232323"/>
                </a:solidFill>
                <a:latin typeface="Arial"/>
              </a:rPr>
              <a:t>A partir de las listas de Jira, identificar las historias que vencen el 4 de octubre y no están en Listo.</a:t>
            </a:r>
          </a:p>
          <a:p>
            <a:pPr algn="l">
              <a:spcAft>
                <a:spcPts val="600"/>
              </a:spcAft>
            </a:pPr>
            <a:r>
              <a:rPr sz="2100" b="1" i="0">
                <a:solidFill>
                  <a:srgbClr val="232323"/>
                </a:solidFill>
                <a:latin typeface="Arial"/>
              </a:rPr>
              <a:t>SOLUCIÓN:</a:t>
            </a:r>
          </a:p>
          <a:p>
            <a:pPr algn="l">
              <a:spcAft>
                <a:spcPts val="600"/>
              </a:spcAft>
            </a:pPr>
            <a:r>
              <a:rPr sz="2100" b="0" i="0">
                <a:solidFill>
                  <a:srgbClr val="232323"/>
                </a:solidFill>
                <a:latin typeface="Arial"/>
              </a:rPr>
              <a:t>• Corona: SC-4 y SC-5 (En curso).</a:t>
            </a:r>
          </a:p>
          <a:p>
            <a:pPr algn="l">
              <a:spcAft>
                <a:spcPts val="600"/>
              </a:spcAft>
            </a:pPr>
            <a:r>
              <a:rPr sz="2100" b="0" i="0">
                <a:solidFill>
                  <a:srgbClr val="232323"/>
                </a:solidFill>
                <a:latin typeface="Arial"/>
              </a:rPr>
              <a:t>• Banco Bansiso: SBB-4, SBB-5, SBB-6 y SBB-7 (En curso).</a:t>
            </a:r>
          </a:p>
          <a:p>
            <a:pPr algn="l">
              <a:spcAft>
                <a:spcPts val="600"/>
              </a:spcAft>
            </a:pPr>
            <a:r>
              <a:rPr sz="2100" b="0" i="0">
                <a:solidFill>
                  <a:srgbClr val="232323"/>
                </a:solidFill>
                <a:latin typeface="Arial"/>
              </a:rPr>
              <a:t>• Fábrica de galletas: FDG-8, FDG-9 y FDG-10 (Por hacer).</a:t>
            </a:r>
          </a:p>
          <a:p>
            <a:pPr algn="l">
              <a:spcAft>
                <a:spcPts val="600"/>
              </a:spcAft>
            </a:pPr>
            <a:r>
              <a:rPr sz="2100" b="0" i="0">
                <a:solidFill>
                  <a:srgbClr val="232323"/>
                </a:solidFill>
                <a:latin typeface="Arial"/>
              </a:rPr>
              <a:t>• Total: 2 + 4 + 3 = 9 historias.</a:t>
            </a:r>
          </a:p>
          <a:p>
            <a:pPr algn="l">
              <a:spcAft>
                <a:spcPts val="600"/>
              </a:spcAft>
            </a:pPr>
            <a:r>
              <a:rPr sz="2100" b="1" i="0">
                <a:solidFill>
                  <a:srgbClr val="232323"/>
                </a:solidFill>
                <a:latin typeface="Arial"/>
              </a:rPr>
              <a:t>RESULTADO: nueve historias corren riesgo de retraso; se debe priorizar su revisión, empezando por las tres de Fábrica de galletas que aún están Por hacer.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3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8686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2000" cy="64008"/>
          </a:xfrm>
          <a:prstGeom prst="rect">
            <a:avLst/>
          </a:prstGeom>
          <a:solidFill>
            <a:srgbClr val="2EB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1064240" cy="594360"/>
          </a:xfrm>
          <a:prstGeom prst="rect">
            <a:avLst/>
          </a:prstGeom>
          <a:noFill/>
        </p:spPr>
        <p:txBody>
          <a:bodyPr wrap="square" lIns="137160" rIns="13716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Arial"/>
              </a:rPr>
              <a:t>Lección aprendida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1247120" cy="5779007"/>
          </a:xfrm>
          <a:prstGeom prst="rect">
            <a:avLst/>
          </a:prstGeom>
          <a:solidFill>
            <a:srgbClr val="FFFFFF"/>
          </a:solidFill>
          <a:ln w="22225">
            <a:solidFill>
              <a:srgbClr val="2EB5C9"/>
            </a:solidFill>
          </a:ln>
        </p:spPr>
        <p:txBody>
          <a:bodyPr wrap="square" lIns="137160" rIns="137160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2100" b="1" i="0">
                <a:solidFill>
                  <a:srgbClr val="232323"/>
                </a:solidFill>
                <a:latin typeface="Arial"/>
              </a:rPr>
              <a:t>Registrar una lección aprendida a partir de las diferencias entre Jira y Trello.</a:t>
            </a:r>
          </a:p>
          <a:p>
            <a:pPr algn="l">
              <a:spcAft>
                <a:spcPts val="600"/>
              </a:spcAft>
            </a:pPr>
            <a:r>
              <a:rPr sz="2100" b="1" i="0">
                <a:solidFill>
                  <a:srgbClr val="232323"/>
                </a:solidFill>
                <a:latin typeface="Arial"/>
              </a:rPr>
              <a:t>SOLUCIÓN:</a:t>
            </a:r>
          </a:p>
          <a:p>
            <a:pPr algn="l">
              <a:spcAft>
                <a:spcPts val="600"/>
              </a:spcAft>
            </a:pPr>
            <a:r>
              <a:rPr sz="2100" b="0" i="0">
                <a:solidFill>
                  <a:srgbClr val="232323"/>
                </a:solidFill>
                <a:latin typeface="Arial"/>
              </a:rPr>
              <a:t>• Situación: el estado y las fechas de una misma actividad difieren entre herramientas.</a:t>
            </a:r>
          </a:p>
          <a:p>
            <a:pPr algn="l">
              <a:spcAft>
                <a:spcPts val="600"/>
              </a:spcAft>
            </a:pPr>
            <a:r>
              <a:rPr sz="2100" b="0" i="0">
                <a:solidFill>
                  <a:srgbClr val="232323"/>
                </a:solidFill>
                <a:latin typeface="Arial"/>
              </a:rPr>
              <a:t>• Problema: porcentajes de avance distintos (30 % y 50 % en Banco Bansiso) y tarjetas completadas en Trello que siguen pendientes en Jira.</a:t>
            </a:r>
          </a:p>
          <a:p>
            <a:pPr algn="l">
              <a:spcAft>
                <a:spcPts val="600"/>
              </a:spcAft>
            </a:pPr>
            <a:r>
              <a:rPr sz="2100" b="0" i="0">
                <a:solidFill>
                  <a:srgbClr val="232323"/>
                </a:solidFill>
                <a:latin typeface="Arial"/>
              </a:rPr>
              <a:t>• Causa: actualización manual por separado y distinto nivel de detalle.</a:t>
            </a:r>
          </a:p>
          <a:p>
            <a:pPr algn="l">
              <a:spcAft>
                <a:spcPts val="600"/>
              </a:spcAft>
            </a:pPr>
            <a:r>
              <a:rPr sz="2100" b="0" i="0">
                <a:solidFill>
                  <a:srgbClr val="232323"/>
                </a:solidFill>
                <a:latin typeface="Arial"/>
              </a:rPr>
              <a:t>• Impacto: reportes poco confiables y riesgo de tomar decisiones equivocadas.</a:t>
            </a:r>
          </a:p>
          <a:p>
            <a:pPr algn="l">
              <a:spcAft>
                <a:spcPts val="600"/>
              </a:spcAft>
            </a:pPr>
            <a:r>
              <a:rPr sz="2100" b="0" i="0">
                <a:solidFill>
                  <a:srgbClr val="232323"/>
                </a:solidFill>
                <a:latin typeface="Arial"/>
              </a:rPr>
              <a:t>• Lección aprendida: mantener una sola lista de actividades y definir una fuente principal de información.</a:t>
            </a:r>
          </a:p>
          <a:p>
            <a:pPr algn="l">
              <a:spcAft>
                <a:spcPts val="600"/>
              </a:spcAft>
            </a:pPr>
            <a:r>
              <a:rPr sz="2100" b="0" i="0">
                <a:solidFill>
                  <a:srgbClr val="232323"/>
                </a:solidFill>
                <a:latin typeface="Arial"/>
              </a:rPr>
              <a:t>• Acción futura: actualizar Trello cuando cambie el estado en Jira y revisar ambas antes de cada reporte.</a:t>
            </a:r>
          </a:p>
          <a:p>
            <a:pPr algn="l">
              <a:spcAft>
                <a:spcPts val="600"/>
              </a:spcAft>
            </a:pPr>
            <a:r>
              <a:rPr sz="2100" b="1" i="0">
                <a:solidFill>
                  <a:srgbClr val="232323"/>
                </a:solidFill>
                <a:latin typeface="Arial"/>
              </a:rPr>
              <a:t>RESULTADO: este ejercicio se relaciona con los tableros de Banco Bansiso y Fábrica de galletas.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3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8686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2000" cy="64008"/>
          </a:xfrm>
          <a:prstGeom prst="rect">
            <a:avLst/>
          </a:prstGeom>
          <a:solidFill>
            <a:srgbClr val="2EB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1064240" cy="594360"/>
          </a:xfrm>
          <a:prstGeom prst="rect">
            <a:avLst/>
          </a:prstGeom>
          <a:noFill/>
        </p:spPr>
        <p:txBody>
          <a:bodyPr wrap="square" lIns="137160" rIns="13716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Arial"/>
              </a:rPr>
              <a:t>Cuadro comparativo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Aspecto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Corona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Banco Bansiso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Fábrica de galletas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232323"/>
                          </a:solidFill>
                          <a:latin typeface="Arial"/>
                        </a:rPr>
                        <a:t>Proceso simulado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2323"/>
                          </a:solidFill>
                          <a:latin typeface="Arial"/>
                        </a:rPr>
                        <a:t>Elaboración de cerveza, inventario, distribución y ventas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2323"/>
                          </a:solidFill>
                          <a:latin typeface="Arial"/>
                        </a:rPr>
                        <a:t>Atención de clientes: llegada, fila FIFO y ventanillas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2323"/>
                          </a:solidFill>
                          <a:latin typeface="Arial"/>
                        </a:rPr>
                        <a:t>Mezclado, amasado, moldeado, horneado, enfriamiento y empaque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232323"/>
                          </a:solidFill>
                          <a:latin typeface="Arial"/>
                        </a:rPr>
                        <a:t>Historias en Jira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2323"/>
                          </a:solidFill>
                          <a:latin typeface="Arial"/>
                        </a:rPr>
                        <a:t>10 (clave SC)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2323"/>
                          </a:solidFill>
                          <a:latin typeface="Arial"/>
                        </a:rPr>
                        <a:t>10 (clave SBB)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2323"/>
                          </a:solidFill>
                          <a:latin typeface="Arial"/>
                        </a:rPr>
                        <a:t>10 (clave FDG)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232323"/>
                          </a:solidFill>
                          <a:latin typeface="Arial"/>
                        </a:rPr>
                        <a:t>Listo / En curso / Por hacer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2323"/>
                          </a:solidFill>
                          <a:latin typeface="Arial"/>
                        </a:rPr>
                        <a:t>3 / 3 / 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2323"/>
                          </a:solidFill>
                          <a:latin typeface="Arial"/>
                        </a:rPr>
                        <a:t>3 / 4 / 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2323"/>
                          </a:solidFill>
                          <a:latin typeface="Arial"/>
                        </a:rPr>
                        <a:t>4 / 2 / 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232323"/>
                          </a:solidFill>
                          <a:latin typeface="Arial"/>
                        </a:rPr>
                        <a:t>Avance según Jira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2323"/>
                          </a:solidFill>
                          <a:latin typeface="Arial"/>
                        </a:rPr>
                        <a:t>30 %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2323"/>
                          </a:solidFill>
                          <a:latin typeface="Arial"/>
                        </a:rPr>
                        <a:t>30 %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2323"/>
                          </a:solidFill>
                          <a:latin typeface="Arial"/>
                        </a:rPr>
                        <a:t>40 %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232323"/>
                          </a:solidFill>
                          <a:latin typeface="Arial"/>
                        </a:rPr>
                        <a:t>Tareas en el Gantt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2323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2323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2323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232323"/>
                          </a:solidFill>
                          <a:latin typeface="Arial"/>
                        </a:rPr>
                        <a:t>Recursos en el Gantt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2323"/>
                          </a:solidFill>
                          <a:latin typeface="Arial"/>
                        </a:rPr>
                        <a:t>Responsable del proyecto; R; C; 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2323"/>
                          </a:solidFill>
                          <a:latin typeface="Arial"/>
                        </a:rPr>
                        <a:t>Responsable del proyecto; Computadora; R; C; J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2323"/>
                          </a:solidFill>
                          <a:latin typeface="Arial"/>
                        </a:rPr>
                        <a:t>Responsable del proyecto; Camunda Modeler; IntelliJ IDEA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232323"/>
                          </a:solidFill>
                          <a:latin typeface="Arial"/>
                        </a:rPr>
                        <a:t>Trello (Por hacer / En proceso / Hecho)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2323"/>
                          </a:solidFill>
                          <a:latin typeface="Arial"/>
                        </a:rPr>
                        <a:t>4 / 4 / 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2323"/>
                          </a:solidFill>
                          <a:latin typeface="Arial"/>
                        </a:rPr>
                        <a:t>1 / 2 / 3 (6 tarjetas)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2323"/>
                          </a:solidFill>
                          <a:latin typeface="Arial"/>
                        </a:rPr>
                        <a:t>4 / 3 / 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232323"/>
                          </a:solidFill>
                          <a:latin typeface="Arial"/>
                        </a:rPr>
                        <a:t>Vencimiento de la épica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2323"/>
                          </a:solidFill>
                          <a:latin typeface="Arial"/>
                        </a:rPr>
                        <a:t>18 de octubre de 2026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2323"/>
                          </a:solidFill>
                          <a:latin typeface="Arial"/>
                        </a:rPr>
                        <a:t>11 de octubre de 2026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2323"/>
                          </a:solidFill>
                          <a:latin typeface="Arial"/>
                        </a:rPr>
                        <a:t>4 de octubre de 2026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232323"/>
                          </a:solidFill>
                          <a:latin typeface="Arial"/>
                        </a:rPr>
                        <a:t>Inconsistencia detectada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2323"/>
                          </a:solidFill>
                          <a:latin typeface="Arial"/>
                        </a:rPr>
                        <a:t>Fecha de SC-6 distinta entre Jira y Trello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2323"/>
                          </a:solidFill>
                          <a:latin typeface="Arial"/>
                        </a:rPr>
                        <a:t>Avance de 30 % en Jira y 50 % en Trello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2323"/>
                          </a:solidFill>
                          <a:latin typeface="Arial"/>
                        </a:rPr>
                        <a:t>Estados y fechas distintos en FDG-4, FDG-5, FDG-6 y FDG-7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3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8686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2000" cy="64008"/>
          </a:xfrm>
          <a:prstGeom prst="rect">
            <a:avLst/>
          </a:prstGeom>
          <a:solidFill>
            <a:srgbClr val="2EB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1064240" cy="594360"/>
          </a:xfrm>
          <a:prstGeom prst="rect">
            <a:avLst/>
          </a:prstGeom>
          <a:noFill/>
        </p:spPr>
        <p:txBody>
          <a:bodyPr wrap="square" lIns="137160" rIns="13716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Arial"/>
              </a:rPr>
              <a:t>Resultado y conclusión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11247120" cy="5169408"/>
          </a:xfrm>
          <a:prstGeom prst="rect">
            <a:avLst/>
          </a:prstGeom>
          <a:solidFill>
            <a:srgbClr val="FFFFFF"/>
          </a:solidFill>
          <a:ln w="22225">
            <a:solidFill>
              <a:srgbClr val="2EB5C9"/>
            </a:solidFill>
          </a:ln>
        </p:spPr>
        <p:txBody>
          <a:bodyPr wrap="square" lIns="137160" rIns="13716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i="0">
                <a:solidFill>
                  <a:srgbClr val="232323"/>
                </a:solidFill>
                <a:latin typeface="Arial"/>
              </a:rPr>
              <a:t>RESULTADOS:</a:t>
            </a:r>
          </a:p>
          <a:p>
            <a:pPr algn="ctr">
              <a:spcAft>
                <a:spcPts val="400"/>
              </a:spcAft>
            </a:pPr>
            <a:r>
              <a:rPr sz="2000" b="0" i="0">
                <a:solidFill>
                  <a:srgbClr val="232323"/>
                </a:solidFill>
                <a:latin typeface="Arial"/>
              </a:rPr>
              <a:t>• Se clasificaron las historias de Jira de los tres proyectos por estado y se calculó su avance (30 %, 30 % y 40 %).</a:t>
            </a:r>
          </a:p>
          <a:p>
            <a:pPr algn="ctr">
              <a:spcAft>
                <a:spcPts val="400"/>
              </a:spcAft>
            </a:pPr>
            <a:r>
              <a:rPr sz="2000" b="0" i="0">
                <a:solidFill>
                  <a:srgbClr val="232323"/>
                </a:solidFill>
                <a:latin typeface="Arial"/>
              </a:rPr>
              <a:t>• Se interpretaron los tableros de Trello y los diagramas de Gantt de cada proyecto.</a:t>
            </a:r>
          </a:p>
          <a:p>
            <a:pPr algn="ctr">
              <a:spcAft>
                <a:spcPts val="400"/>
              </a:spcAft>
            </a:pPr>
            <a:r>
              <a:rPr sz="2000" b="0" i="0">
                <a:solidFill>
                  <a:srgbClr val="232323"/>
                </a:solidFill>
                <a:latin typeface="Arial"/>
              </a:rPr>
              <a:t>• Se compararon Jira y Trello y se detectaron diferencias de estados, fechas y porcentajes.</a:t>
            </a:r>
          </a:p>
          <a:p>
            <a:pPr algn="ctr">
              <a:spcAft>
                <a:spcPts val="400"/>
              </a:spcAft>
            </a:pPr>
            <a:r>
              <a:rPr sz="2000" b="0" i="0">
                <a:solidFill>
                  <a:srgbClr val="232323"/>
                </a:solidFill>
                <a:latin typeface="Arial"/>
              </a:rPr>
              <a:t>• Se identificaron 9 historias que vencen el 4 de octubre sin estar terminadas.</a:t>
            </a:r>
          </a:p>
          <a:p>
            <a:pPr algn="ctr">
              <a:spcAft>
                <a:spcPts val="400"/>
              </a:spcAft>
            </a:pPr>
            <a:r>
              <a:rPr sz="2000" b="0" i="0">
                <a:solidFill>
                  <a:srgbClr val="232323"/>
                </a:solidFill>
                <a:latin typeface="Arial"/>
              </a:rPr>
              <a:t>• Se registró una lección aprendida sobre la sincronización de herramientas.</a:t>
            </a:r>
          </a:p>
          <a:p>
            <a:pPr algn="ctr">
              <a:spcAft>
                <a:spcPts val="400"/>
              </a:spcAft>
            </a:pPr>
            <a:r>
              <a:rPr sz="2000" b="1" i="0">
                <a:solidFill>
                  <a:srgbClr val="232323"/>
                </a:solidFill>
                <a:latin typeface="Arial"/>
              </a:rPr>
              <a:t>CONCLUSIÓN</a:t>
            </a:r>
          </a:p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232323"/>
                </a:solidFill>
                <a:latin typeface="Arial"/>
              </a:rPr>
              <a:t>Dar seguimiento a un proyecto de TI con Gantt, Jira y Trello permite conocer su avance real, detectar atrasos y encontrar inconsistencias. Para que el reporte sea confiable, las herramientas deben mantenerse sincronizadas y el cierre de cada proyecto debe sustentarse con pruebas, resultados y documentación final.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1784</Words>
  <Application>Microsoft Office PowerPoint</Application>
  <PresentationFormat>Panorámica</PresentationFormat>
  <Paragraphs>175</Paragraphs>
  <Slides>14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14</vt:i4>
      </vt:variant>
    </vt:vector>
  </HeadingPairs>
  <TitlesOfParts>
    <vt:vector size="18" baseType="lpstr">
      <vt:lpstr>Arial</vt:lpstr>
      <vt:lpstr>Calibri</vt:lpstr>
      <vt:lpstr>Century Gothic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subject/>
  <dc:creator>Bryan</dc:creator>
  <cp:keywords/>
  <dc:description>generated using python-pptx</dc:description>
  <cp:lastModifiedBy>Jasmine Morales</cp:lastModifiedBy>
  <cp:revision>6</cp:revision>
  <dcterms:created xsi:type="dcterms:W3CDTF">2013-01-27T09:14:16Z</dcterms:created>
  <dcterms:modified xsi:type="dcterms:W3CDTF">2026-10-04T00:15:19Z</dcterms:modified>
  <cp:category/>
</cp:coreProperties>
</file>