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DF18680-E054-41AD-8BC1-D1AEF772440D}" styleName="Estilo medio 2 - Énfasis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ynthia21Morales/GPTI_CynthiaJasmineMT/blob/main/GPTI-Tema-6/Actividad%206.2%20Reporte%20de%20Practica_CynthiaMorales_GPTI_7ISCM.docx.pptx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9">
            <a:extLst>
              <a:ext uri="{FF2B5EF4-FFF2-40B4-BE49-F238E27FC236}">
                <a16:creationId xmlns:a16="http://schemas.microsoft.com/office/drawing/2014/main" id="{A3C4E36C-0811-51C3-5C60-47D828EF07F0}"/>
              </a:ext>
            </a:extLst>
          </p:cNvPr>
          <p:cNvSpPr txBox="1"/>
          <p:nvPr/>
        </p:nvSpPr>
        <p:spPr>
          <a:xfrm>
            <a:off x="2402908" y="1880767"/>
            <a:ext cx="7644625" cy="4924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Materia:</a:t>
            </a:r>
          </a:p>
          <a:p>
            <a:pPr algn="ctr"/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Gestión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Proyectos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TI</a:t>
            </a:r>
          </a:p>
          <a:p>
            <a:pPr algn="ctr"/>
            <a:endParaRPr lang="en-US" sz="16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Semestre: </a:t>
            </a:r>
          </a:p>
          <a:p>
            <a:pPr algn="ctr"/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Septimo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semestre </a:t>
            </a:r>
          </a:p>
          <a:p>
            <a:pPr algn="ctr"/>
            <a:endParaRPr lang="en-US" sz="16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Especialidad: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Ingeniería en Sistemas Computacionales.</a:t>
            </a:r>
          </a:p>
          <a:p>
            <a:pPr algn="ctr"/>
            <a:endParaRPr lang="en-US" sz="16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alumno: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Cynthia Jasmine Morales Torres / 231260014</a:t>
            </a:r>
          </a:p>
          <a:p>
            <a:pPr algn="ctr"/>
            <a:endParaRPr lang="en-US" sz="16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Nombre del docente: 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Ing. Francisco Javier Mingo Velazquez </a:t>
            </a:r>
          </a:p>
          <a:p>
            <a:pPr algn="ctr"/>
            <a:endParaRPr lang="en-US" sz="16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trabajo: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6.2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Reporte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practica</a:t>
            </a:r>
            <a:endParaRPr lang="en-US" sz="16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</a:t>
            </a:r>
          </a:p>
          <a:p>
            <a:pPr algn="ctr"/>
            <a:endParaRPr lang="en-US" sz="16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Frontera Comalapa, Chiapas. A 03 de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octubre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2026.</a:t>
            </a:r>
          </a:p>
        </p:txBody>
      </p:sp>
      <p:sp>
        <p:nvSpPr>
          <p:cNvPr id="3" name="TextBox 8">
            <a:extLst>
              <a:ext uri="{FF2B5EF4-FFF2-40B4-BE49-F238E27FC236}">
                <a16:creationId xmlns:a16="http://schemas.microsoft.com/office/drawing/2014/main" id="{13F0B0C6-69C5-5AB6-B6D4-DE1EE68177FA}"/>
              </a:ext>
            </a:extLst>
          </p:cNvPr>
          <p:cNvSpPr txBox="1"/>
          <p:nvPr/>
        </p:nvSpPr>
        <p:spPr>
          <a:xfrm>
            <a:off x="2046984" y="997338"/>
            <a:ext cx="8356475" cy="7092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08"/>
              </a:lnSpc>
            </a:pPr>
            <a:r>
              <a:rPr lang="en-US" sz="16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Instituto Tecnológico de Frontera Comalapa </a:t>
            </a:r>
          </a:p>
          <a:p>
            <a:pPr algn="ctr">
              <a:lnSpc>
                <a:spcPts val="2908"/>
              </a:lnSpc>
            </a:pPr>
            <a:r>
              <a:rPr lang="en-US" sz="16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Modalidad Mixta</a:t>
            </a:r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41FF93A0-B046-7744-3C17-2A713CD1D0C0}"/>
              </a:ext>
            </a:extLst>
          </p:cNvPr>
          <p:cNvGrpSpPr/>
          <p:nvPr/>
        </p:nvGrpSpPr>
        <p:grpSpPr>
          <a:xfrm>
            <a:off x="1118708" y="31119"/>
            <a:ext cx="2709599" cy="1198176"/>
            <a:chOff x="0" y="0"/>
            <a:chExt cx="3073400" cy="1308100"/>
          </a:xfrm>
        </p:grpSpPr>
        <p:sp>
          <p:nvSpPr>
            <p:cNvPr id="5" name="Freeform 3">
              <a:extLst>
                <a:ext uri="{FF2B5EF4-FFF2-40B4-BE49-F238E27FC236}">
                  <a16:creationId xmlns:a16="http://schemas.microsoft.com/office/drawing/2014/main" id="{CFA264C4-D84D-B5E7-B1B8-48841853D883}"/>
                </a:ext>
              </a:extLst>
            </p:cNvPr>
            <p:cNvSpPr/>
            <p:nvPr/>
          </p:nvSpPr>
          <p:spPr>
            <a:xfrm>
              <a:off x="0" y="0"/>
              <a:ext cx="3073400" cy="1308100"/>
            </a:xfrm>
            <a:custGeom>
              <a:avLst/>
              <a:gdLst/>
              <a:ahLst/>
              <a:cxnLst/>
              <a:rect l="l" t="t" r="r" b="b"/>
              <a:pathLst>
                <a:path w="3073400" h="1308100">
                  <a:moveTo>
                    <a:pt x="0" y="0"/>
                  </a:moveTo>
                  <a:lnTo>
                    <a:pt x="3073400" y="0"/>
                  </a:lnTo>
                  <a:lnTo>
                    <a:pt x="3073400" y="1308100"/>
                  </a:lnTo>
                  <a:lnTo>
                    <a:pt x="0" y="130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8" name="Group 4">
            <a:extLst>
              <a:ext uri="{FF2B5EF4-FFF2-40B4-BE49-F238E27FC236}">
                <a16:creationId xmlns:a16="http://schemas.microsoft.com/office/drawing/2014/main" id="{CFFE77F6-4B3B-8AA8-BFED-337E1AA13C84}"/>
              </a:ext>
            </a:extLst>
          </p:cNvPr>
          <p:cNvGrpSpPr/>
          <p:nvPr/>
        </p:nvGrpSpPr>
        <p:grpSpPr>
          <a:xfrm>
            <a:off x="9459465" y="106714"/>
            <a:ext cx="1872270" cy="1245240"/>
            <a:chOff x="0" y="0"/>
            <a:chExt cx="1981200" cy="16256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3860A074-D63F-D325-CE52-DF7F0867AABF}"/>
                </a:ext>
              </a:extLst>
            </p:cNvPr>
            <p:cNvSpPr/>
            <p:nvPr/>
          </p:nvSpPr>
          <p:spPr>
            <a:xfrm>
              <a:off x="0" y="0"/>
              <a:ext cx="1981200" cy="1625600"/>
            </a:xfrm>
            <a:custGeom>
              <a:avLst/>
              <a:gdLst/>
              <a:ahLst/>
              <a:cxnLst/>
              <a:rect l="l" t="t" r="r" b="b"/>
              <a:pathLst>
                <a:path w="1981200" h="1625600">
                  <a:moveTo>
                    <a:pt x="0" y="0"/>
                  </a:moveTo>
                  <a:lnTo>
                    <a:pt x="1981200" y="0"/>
                  </a:lnTo>
                  <a:lnTo>
                    <a:pt x="1981200" y="1625600"/>
                  </a:lnTo>
                  <a:lnTo>
                    <a:pt x="0" y="1625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0" name="Group 6">
            <a:extLst>
              <a:ext uri="{FF2B5EF4-FFF2-40B4-BE49-F238E27FC236}">
                <a16:creationId xmlns:a16="http://schemas.microsoft.com/office/drawing/2014/main" id="{FCF3723F-0A45-6E94-1EED-E2282B1A3A49}"/>
              </a:ext>
            </a:extLst>
          </p:cNvPr>
          <p:cNvGrpSpPr/>
          <p:nvPr/>
        </p:nvGrpSpPr>
        <p:grpSpPr>
          <a:xfrm>
            <a:off x="4609388" y="269788"/>
            <a:ext cx="3812814" cy="709234"/>
            <a:chOff x="0" y="0"/>
            <a:chExt cx="4343400" cy="901700"/>
          </a:xfrm>
        </p:grpSpPr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A41B360A-4702-AAEF-E3CB-3FC9D946ABDF}"/>
                </a:ext>
              </a:extLst>
            </p:cNvPr>
            <p:cNvSpPr/>
            <p:nvPr/>
          </p:nvSpPr>
          <p:spPr>
            <a:xfrm>
              <a:off x="0" y="0"/>
              <a:ext cx="4343400" cy="901700"/>
            </a:xfrm>
            <a:custGeom>
              <a:avLst/>
              <a:gdLst/>
              <a:ahLst/>
              <a:cxnLst/>
              <a:rect l="l" t="t" r="r" b="b"/>
              <a:pathLst>
                <a:path w="4343400" h="901700">
                  <a:moveTo>
                    <a:pt x="0" y="0"/>
                  </a:moveTo>
                  <a:lnTo>
                    <a:pt x="4343400" y="0"/>
                  </a:lnTo>
                  <a:lnTo>
                    <a:pt x="4343400" y="901700"/>
                  </a:lnTo>
                  <a:lnTo>
                    <a:pt x="0" y="901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789920" cy="2776728"/>
          </a:xfrm>
          <a:prstGeom prst="rect">
            <a:avLst/>
          </a:prstGeom>
          <a:solidFill>
            <a:srgbClr val="FFFFFF"/>
          </a:solidFill>
          <a:ln w="22225">
            <a:solidFill>
              <a:srgbClr val="2EB5C9"/>
            </a:solidFill>
          </a:ln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232323"/>
                </a:solidFill>
                <a:latin typeface="Arial"/>
              </a:rPr>
              <a:t>El seguimiento y control permite comparar lo planificado con el avance real de un proyecto de TI y detectar desviaciones a tiempo.</a:t>
            </a:r>
          </a:p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232323"/>
                </a:solidFill>
                <a:latin typeface="Arial"/>
              </a:rPr>
              <a:t>En esta práctica se dio seguimiento a tres proyectos de simulación: Corona, Banco Bansiso y Fábrica de galletas.</a:t>
            </a:r>
          </a:p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232323"/>
                </a:solidFill>
                <a:latin typeface="Arial"/>
              </a:rPr>
              <a:t>Para cada proyecto se utilizaron tres herramientas: un diagrama de Gantt para el cronograma, Jira para las historias de usuario y Trello como tablero Kanban.</a:t>
            </a:r>
          </a:p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232323"/>
                </a:solidFill>
                <a:latin typeface="Arial"/>
              </a:rPr>
              <a:t>Los datos de avance provienen de las capturas realizadas el 3 de octubre de 2026 y se presentan tal como aparecen en cada herramienta, sin asignar un resultado final a los proyectos.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Justificación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789920" cy="2517648"/>
          </a:xfrm>
          <a:prstGeom prst="rect">
            <a:avLst/>
          </a:prstGeom>
          <a:solidFill>
            <a:srgbClr val="FFFFFF"/>
          </a:solidFill>
          <a:ln w="22225">
            <a:solidFill>
              <a:srgbClr val="2EB5C9"/>
            </a:solidFill>
          </a:ln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232323"/>
                </a:solidFill>
                <a:latin typeface="Arial"/>
              </a:rPr>
              <a:t>Dar seguimiento al cronograma permite identificar tareas atrasadas, dependencias afectadas y pendientes antes de la fecha de entrega.</a:t>
            </a:r>
          </a:p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232323"/>
                </a:solidFill>
                <a:latin typeface="Arial"/>
              </a:rPr>
              <a:t>Jira ofrece el detalle de cada historia (estado, prioridad y fechas); Trello muestra el flujo de trabajo de forma visual; el Gantt presenta la secuencia y las dependencias.</a:t>
            </a:r>
          </a:p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232323"/>
                </a:solidFill>
                <a:latin typeface="Arial"/>
              </a:rPr>
              <a:t>Usar las tres herramientas sobre los mismos proyectos permite contrastar la información y encontrar inconsistencias.</a:t>
            </a:r>
          </a:p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232323"/>
                </a:solidFill>
                <a:latin typeface="Arial"/>
              </a:rPr>
              <a:t>Los resultados sirven como insumo para la evaluación y el cierre de cada proyecto.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Objetivos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789920" cy="2746247"/>
          </a:xfrm>
          <a:prstGeom prst="rect">
            <a:avLst/>
          </a:prstGeom>
          <a:solidFill>
            <a:srgbClr val="FFFFFF"/>
          </a:solidFill>
          <a:ln w="22225">
            <a:solidFill>
              <a:srgbClr val="2EB5C9"/>
            </a:solidFill>
          </a:ln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 i="0">
                <a:solidFill>
                  <a:srgbClr val="232323"/>
                </a:solidFill>
                <a:latin typeface="Arial"/>
              </a:rPr>
              <a:t>OBJETIVO GENERAL: </a:t>
            </a:r>
            <a:r>
              <a:rPr sz="1700" b="0" i="0">
                <a:solidFill>
                  <a:srgbClr val="232323"/>
                </a:solidFill>
                <a:latin typeface="Arial"/>
              </a:rPr>
              <a:t>dar seguimiento al avance de los proyectos Corona, Banco Bansiso y Fábrica de galletas mediante diagramas de Gantt, Jira y Trello.</a:t>
            </a:r>
          </a:p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232323"/>
                </a:solidFill>
                <a:latin typeface="Arial"/>
              </a:rPr>
              <a:t>Registrar el estado de las actividades de cada proyecto (Por hacer, En curso y Listo).</a:t>
            </a:r>
          </a:p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232323"/>
                </a:solidFill>
                <a:latin typeface="Arial"/>
              </a:rPr>
              <a:t>Calcular el porcentaje de avance con base en las historias completadas.</a:t>
            </a:r>
          </a:p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232323"/>
                </a:solidFill>
                <a:latin typeface="Arial"/>
              </a:rPr>
              <a:t>Comparar la información de Jira y Trello para detectar diferencias.</a:t>
            </a:r>
          </a:p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232323"/>
                </a:solidFill>
                <a:latin typeface="Arial"/>
              </a:rPr>
              <a:t>Identificar actividades próximas a vencer y posibles riesgos para el cronograma.</a:t>
            </a:r>
          </a:p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232323"/>
                </a:solidFill>
                <a:latin typeface="Arial"/>
              </a:rPr>
              <a:t>Documentar lecciones aprendidas para el seguimiento de futuros proyectos.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Herramientas utilizadas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71600"/>
          <a:ext cx="10881360" cy="32918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Herramienta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Uso en la práctica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Qué muestra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32323"/>
                          </a:solidFill>
                          <a:latin typeface="Arial"/>
                        </a:rPr>
                        <a:t>Diagrama de Gantt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32323"/>
                          </a:solidFill>
                          <a:latin typeface="Arial"/>
                        </a:rPr>
                        <a:t>Planificar y visualizar el cronograma de cada proyecto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32323"/>
                          </a:solidFill>
                          <a:latin typeface="Arial"/>
                        </a:rPr>
                        <a:t>Tareas, duración, dependencias entre tareas, recursos y línea de la fecha actual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32323"/>
                          </a:solidFill>
                          <a:latin typeface="Arial"/>
                        </a:rPr>
                        <a:t>Jira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32323"/>
                          </a:solidFill>
                          <a:latin typeface="Arial"/>
                        </a:rPr>
                        <a:t>Gestionar las historias de usuario dentro de una épica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32323"/>
                          </a:solidFill>
                          <a:latin typeface="Arial"/>
                        </a:rPr>
                        <a:t>Estado, prioridad, informador, fecha de inicio y fecha de vencimiento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32323"/>
                          </a:solidFill>
                          <a:latin typeface="Arial"/>
                        </a:rPr>
                        <a:t>Trello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32323"/>
                          </a:solidFill>
                          <a:latin typeface="Arial"/>
                        </a:rPr>
                        <a:t>Tablero Kanban para el seguimiento visual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32323"/>
                          </a:solidFill>
                          <a:latin typeface="Arial"/>
                        </a:rPr>
                        <a:t>Tarjetas por columna (Por hacer, En proceso, Hecho) con sus fechas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Proyecto Corona: Gantt y Trello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10789920" cy="1572768"/>
          </a:xfrm>
          <a:prstGeom prst="rect">
            <a:avLst/>
          </a:prstGeom>
          <a:solidFill>
            <a:srgbClr val="FFFFFF"/>
          </a:solidFill>
          <a:ln w="22225">
            <a:solidFill>
              <a:srgbClr val="2EB5C9"/>
            </a:solidFill>
          </a:ln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32323"/>
                </a:solidFill>
                <a:latin typeface="Arial"/>
              </a:rPr>
              <a:t>Objetivo: simular el proceso operativo y comercial de la empresa Corona (elaboración de cerveza, inventario, almacenamiento, distribución y ventas).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32323"/>
                </a:solidFill>
                <a:latin typeface="Arial"/>
              </a:rPr>
              <a:t>El Gantt contiene 7 tareas encadenadas por dependencias; la línea roja punteada marca la fecha actual.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32323"/>
                </a:solidFill>
                <a:latin typeface="Arial"/>
              </a:rPr>
              <a:t>El tablero de Trello tiene 11 tarjetas: 4 en Por hacer, 4 en En proceso (incluye la épica SC-11) y 3 en Hecho.</a:t>
            </a:r>
          </a:p>
        </p:txBody>
      </p:sp>
      <p:pic>
        <p:nvPicPr>
          <p:cNvPr id="7" name="Picture 6" descr="1791067787700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29000"/>
            <a:ext cx="5486400" cy="1761987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236707"/>
            <a:ext cx="548640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Diagrama de Gantt de Corona</a:t>
            </a:r>
          </a:p>
        </p:txBody>
      </p:sp>
      <p:pic>
        <p:nvPicPr>
          <p:cNvPr id="9" name="Picture 8" descr="1791068913309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3429000"/>
            <a:ext cx="5486400" cy="2809150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245352" y="6283870"/>
            <a:ext cx="548640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Tablero de Trello de Corona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Proyecto Corona: Jira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10789920" cy="1547368"/>
          </a:xfrm>
          <a:prstGeom prst="rect">
            <a:avLst/>
          </a:prstGeom>
          <a:solidFill>
            <a:srgbClr val="FFFFFF"/>
          </a:solidFill>
          <a:ln w="22225">
            <a:solidFill>
              <a:srgbClr val="2EB5C9"/>
            </a:solidFill>
          </a:ln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32323"/>
                </a:solidFill>
                <a:latin typeface="Arial"/>
              </a:rPr>
              <a:t>Épica SC-11 «Simulación Corona» en curso, con vencimiento el 18 de octubre de 2026.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32323"/>
                </a:solidFill>
                <a:latin typeface="Arial"/>
              </a:rPr>
              <a:t>3 historias en Listo (SC-1 a SC-3), 3 En curso (SC-4 a SC-6) y 4 Por hacer (SC-7 a SC-10).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32323"/>
                </a:solidFill>
                <a:latin typeface="Arial"/>
              </a:rPr>
              <a:t>Avance según Jira: 3 de 10 historias completadas = 30 %.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32323"/>
                </a:solidFill>
                <a:latin typeface="Arial"/>
              </a:rPr>
              <a:t>SC-4 y SC-5 vencen el 4 de octubre y siguen En curso; todas las historias aparecen sin responsable asignado.</a:t>
            </a:r>
          </a:p>
        </p:txBody>
      </p:sp>
      <p:pic>
        <p:nvPicPr>
          <p:cNvPr id="7" name="Picture 6" descr="1791067855617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2743200"/>
            <a:ext cx="8778240" cy="3578674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1706727" y="6358450"/>
            <a:ext cx="877824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Lista de actividades de Jira del proyecto Corona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Proyecto Banco Bansiso: Gantt y Trello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Arial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10789920" cy="1572768"/>
          </a:xfrm>
          <a:prstGeom prst="rect">
            <a:avLst/>
          </a:prstGeom>
          <a:solidFill>
            <a:srgbClr val="FFFFFF"/>
          </a:solidFill>
          <a:ln w="22225">
            <a:solidFill>
              <a:srgbClr val="2EB5C9"/>
            </a:solidFill>
          </a:ln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32323"/>
                </a:solidFill>
                <a:latin typeface="Arial"/>
              </a:rPr>
              <a:t>Objetivo: simular el proceso de atención de un banco (llegada de clientes, fila FIFO, ventanillas y tiempo de espera).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32323"/>
                </a:solidFill>
                <a:latin typeface="Arial"/>
              </a:rPr>
              <a:t>El Gantt contiene 6 tareas encadenadas, con «Responsable del proyecto» y «Computadora» como recursos.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32323"/>
                </a:solidFill>
                <a:latin typeface="Arial"/>
              </a:rPr>
              <a:t>El tablero de Trello tiene 6 tarjetas (B01 a B06): 1 en Por hacer, 2 En proceso y 3 en Terminado; la columna Revisión no tiene tarjetas.</a:t>
            </a:r>
          </a:p>
        </p:txBody>
      </p:sp>
      <p:pic>
        <p:nvPicPr>
          <p:cNvPr id="7" name="Picture 6" descr="1791069023169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29000"/>
            <a:ext cx="5486400" cy="1547122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021842"/>
            <a:ext cx="548640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Diagrama de Gantt de Banco Bansiso</a:t>
            </a:r>
          </a:p>
        </p:txBody>
      </p:sp>
      <p:pic>
        <p:nvPicPr>
          <p:cNvPr id="9" name="Picture 8" descr="1791068132093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3429000"/>
            <a:ext cx="5486400" cy="2796021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245352" y="6270741"/>
            <a:ext cx="548640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Tablero de Trello de Banco Bansiso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Proyecto Banco Bansiso: Jira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10789920" cy="1318768"/>
          </a:xfrm>
          <a:prstGeom prst="rect">
            <a:avLst/>
          </a:prstGeom>
          <a:solidFill>
            <a:srgbClr val="FFFFFF"/>
          </a:solidFill>
          <a:ln w="22225">
            <a:solidFill>
              <a:srgbClr val="2EB5C9"/>
            </a:solidFill>
          </a:ln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32323"/>
                </a:solidFill>
                <a:latin typeface="Arial"/>
              </a:rPr>
              <a:t>Épica SBB-11 «Simulación Banco Bansiso» en curso, del 7 de septiembre al 11 de octubre de 2026.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32323"/>
                </a:solidFill>
                <a:latin typeface="Arial"/>
              </a:rPr>
              <a:t>3 historias en Listo (SBB-1 a SBB-3), 4 En curso (SBB-4 a SBB-7) y 3 Por hacer (SBB-8 a SBB-10).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32323"/>
                </a:solidFill>
                <a:latin typeface="Arial"/>
              </a:rPr>
              <a:t>Avance según Jira: 3 de 10 historias completadas = 30 %. Prioridad: 7 historias High y 3 Medium.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32323"/>
                </a:solidFill>
                <a:latin typeface="Arial"/>
              </a:rPr>
              <a:t>Las cuatro historias En curso vencen el 4 de octubre.</a:t>
            </a:r>
          </a:p>
        </p:txBody>
      </p:sp>
      <p:pic>
        <p:nvPicPr>
          <p:cNvPr id="7" name="Picture 6" descr="1791068959640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2743200"/>
            <a:ext cx="8778240" cy="3124170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1706727" y="5903946"/>
            <a:ext cx="877824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Lista de actividades de Jira del proyecto Banco Bansiso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Proyecto Fábrica de galletas: Gantt y Trello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10789920" cy="1801368"/>
          </a:xfrm>
          <a:prstGeom prst="rect">
            <a:avLst/>
          </a:prstGeom>
          <a:solidFill>
            <a:srgbClr val="FFFFFF"/>
          </a:solidFill>
          <a:ln w="22225">
            <a:solidFill>
              <a:srgbClr val="2EB5C9"/>
            </a:solidFill>
          </a:ln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32323"/>
                </a:solidFill>
                <a:latin typeface="Arial"/>
              </a:rPr>
              <a:t>Objetivo: simular los procesos de una fábrica de galletas (mezclado, amasado, moldeado, horneado, enfriamiento y empaque).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32323"/>
                </a:solidFill>
                <a:latin typeface="Arial"/>
              </a:rPr>
              <a:t>El Gantt contiene 7 tareas encadenadas; se asignaron Camunda Modeler (modelo BPMN) e IntelliJ IDEA (simulación).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32323"/>
                </a:solidFill>
                <a:latin typeface="Arial"/>
              </a:rPr>
              <a:t>El tablero de Trello tiene 11 tarjetas: 4 en Por hacer, 3 en En proceso (incluye la épica FDG-11) y 4 en Hecho.</a:t>
            </a:r>
          </a:p>
        </p:txBody>
      </p:sp>
      <p:pic>
        <p:nvPicPr>
          <p:cNvPr id="7" name="Picture 6" descr="1791069106025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29000"/>
            <a:ext cx="5486400" cy="1595399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070119"/>
            <a:ext cx="548640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Diagrama de Gantt de Fábrica de galletas</a:t>
            </a:r>
          </a:p>
        </p:txBody>
      </p:sp>
      <p:pic>
        <p:nvPicPr>
          <p:cNvPr id="9" name="Picture 8" descr="1791070042973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3429000"/>
            <a:ext cx="5486400" cy="2686272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245352" y="6160992"/>
            <a:ext cx="548640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Tablero de Trello de Fábrica de galletas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Proyecto Fábrica de galletas: Jira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10789920" cy="1547368"/>
          </a:xfrm>
          <a:prstGeom prst="rect">
            <a:avLst/>
          </a:prstGeom>
          <a:solidFill>
            <a:srgbClr val="FFFFFF"/>
          </a:solidFill>
          <a:ln w="22225">
            <a:solidFill>
              <a:srgbClr val="2EB5C9"/>
            </a:solidFill>
          </a:ln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32323"/>
                </a:solidFill>
                <a:latin typeface="Arial"/>
              </a:rPr>
              <a:t>Épica FDG-11 «Simulación fábrica de galletas» en curso, del 23 de agosto al 4 de octubre de 2026.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32323"/>
                </a:solidFill>
                <a:latin typeface="Arial"/>
              </a:rPr>
              <a:t>4 historias en Listo (FDG-1 a FDG-4), 2 En curso (FDG-5 y FDG-6) y 4 Por hacer (FDG-7 a FDG-10).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32323"/>
                </a:solidFill>
                <a:latin typeface="Arial"/>
              </a:rPr>
              <a:t>Avance según Jira: 4 de 10 historias completadas = 40 %.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32323"/>
                </a:solidFill>
                <a:latin typeface="Arial"/>
              </a:rPr>
              <a:t>FDG-8, FDG-9 y FDG-10 vencen el 4 de octubre y siguen Por hacer; FDG-5, FDG-6 y FDG-7 tienen fecha vencida.</a:t>
            </a:r>
          </a:p>
        </p:txBody>
      </p:sp>
      <p:pic>
        <p:nvPicPr>
          <p:cNvPr id="7" name="Picture 6" descr="1791069073784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2743200"/>
            <a:ext cx="8778240" cy="3078809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1706727" y="5858585"/>
            <a:ext cx="877824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Lista de actividades de Jira del proyecto Fábrica de galletas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Estado comparativo de los tres proyectos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Arial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37" cy="23774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4173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1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57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1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1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946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3144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Proyecto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Historias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Listo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En curso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Por hacer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Avance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Vence la épica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32323"/>
                          </a:solidFill>
                          <a:latin typeface="Arial"/>
                        </a:rPr>
                        <a:t>Corona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3232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3232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32323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32323"/>
                          </a:solidFill>
                          <a:latin typeface="Arial"/>
                        </a:rPr>
                        <a:t>30 %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32323"/>
                          </a:solidFill>
                          <a:latin typeface="Arial"/>
                        </a:rPr>
                        <a:t>18 oct 2026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32323"/>
                          </a:solidFill>
                          <a:latin typeface="Arial"/>
                        </a:rPr>
                        <a:t>Banco Bansiso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3232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32323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3232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32323"/>
                          </a:solidFill>
                          <a:latin typeface="Arial"/>
                        </a:rPr>
                        <a:t>30 %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32323"/>
                          </a:solidFill>
                          <a:latin typeface="Arial"/>
                        </a:rPr>
                        <a:t>11 oct 2026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32323"/>
                          </a:solidFill>
                          <a:latin typeface="Arial"/>
                        </a:rPr>
                        <a:t>Fábrica de galletas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32323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3232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32323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32323"/>
                          </a:solidFill>
                          <a:latin typeface="Arial"/>
                        </a:rPr>
                        <a:t>40 %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32323"/>
                          </a:solidFill>
                          <a:latin typeface="Arial"/>
                        </a:rPr>
                        <a:t>4 oct 2026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06240"/>
            <a:ext cx="10789920" cy="1371600"/>
          </a:xfrm>
          <a:prstGeom prst="rect">
            <a:avLst/>
          </a:prstGeom>
          <a:solidFill>
            <a:srgbClr val="FFFFFF"/>
          </a:solidFill>
          <a:ln w="22225">
            <a:solidFill>
              <a:srgbClr val="2EB5C9"/>
            </a:solidFill>
          </a:ln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32323"/>
                </a:solidFill>
                <a:latin typeface="Arial"/>
              </a:rPr>
              <a:t>El avance se calculó como historias en Listo ÷ total de historias de Jira, sin contar la épica.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32323"/>
                </a:solidFill>
                <a:latin typeface="Arial"/>
              </a:rPr>
              <a:t>Fábrica de galletas es el proyecto con mayor avance, pero también el de vencimiento más cercano.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Diferencias detectadas entre Jira y Trello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Arial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80160"/>
          <a:ext cx="11064240" cy="39684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Proyecto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Elemento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Jira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Trello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232323"/>
                          </a:solidFill>
                          <a:latin typeface="Arial"/>
                        </a:rPr>
                        <a:t>Corona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32323"/>
                          </a:solidFill>
                          <a:latin typeface="Arial"/>
                        </a:rPr>
                        <a:t>SC-6 Registrar pedidos y ventas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32323"/>
                          </a:solidFill>
                          <a:latin typeface="Arial"/>
                        </a:rPr>
                        <a:t>Vence el 11 de octubre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32323"/>
                          </a:solidFill>
                          <a:latin typeface="Arial"/>
                        </a:rPr>
                        <a:t>28 de septiembre al 5 de octubre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232323"/>
                          </a:solidFill>
                          <a:latin typeface="Arial"/>
                        </a:rPr>
                        <a:t>Corona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32323"/>
                          </a:solidFill>
                          <a:latin typeface="Arial"/>
                        </a:rPr>
                        <a:t>SC-11 Simulación Corona (épica)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32323"/>
                          </a:solidFill>
                          <a:latin typeface="Arial"/>
                        </a:rPr>
                        <a:t>Vence el 18 de octubre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32323"/>
                          </a:solidFill>
                          <a:latin typeface="Arial"/>
                        </a:rPr>
                        <a:t>7 de septiembre al 4 de octubre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232323"/>
                          </a:solidFill>
                          <a:latin typeface="Arial"/>
                        </a:rPr>
                        <a:t>Banco Bansiso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32323"/>
                          </a:solidFill>
                          <a:latin typeface="Arial"/>
                        </a:rPr>
                        <a:t>Porcentaje de avance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32323"/>
                          </a:solidFill>
                          <a:latin typeface="Arial"/>
                        </a:rPr>
                        <a:t>10 historias: 30 %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32323"/>
                          </a:solidFill>
                          <a:latin typeface="Arial"/>
                        </a:rPr>
                        <a:t>6 tarjetas: 50 %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232323"/>
                          </a:solidFill>
                          <a:latin typeface="Arial"/>
                        </a:rPr>
                        <a:t>Fábrica de galletas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32323"/>
                          </a:solidFill>
                          <a:latin typeface="Arial"/>
                        </a:rPr>
                        <a:t>FDG-7 Panel de configuración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32323"/>
                          </a:solidFill>
                          <a:latin typeface="Arial"/>
                        </a:rPr>
                        <a:t>Por hacer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32323"/>
                          </a:solidFill>
                          <a:latin typeface="Arial"/>
                        </a:rPr>
                        <a:t>Marcada como completada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232323"/>
                          </a:solidFill>
                          <a:latin typeface="Arial"/>
                        </a:rPr>
                        <a:t>Fábrica de galletas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32323"/>
                          </a:solidFill>
                          <a:latin typeface="Arial"/>
                        </a:rPr>
                        <a:t>FDG-5 y FDG-6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32323"/>
                          </a:solidFill>
                          <a:latin typeface="Arial"/>
                        </a:rPr>
                        <a:t>En curso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32323"/>
                          </a:solidFill>
                          <a:latin typeface="Arial"/>
                        </a:rPr>
                        <a:t>Marcadas como completadas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232323"/>
                          </a:solidFill>
                          <a:latin typeface="Arial"/>
                        </a:rPr>
                        <a:t>Fábrica de galletas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32323"/>
                          </a:solidFill>
                          <a:latin typeface="Arial"/>
                        </a:rPr>
                        <a:t>FDG-4 Simular el mezclado y amasado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32323"/>
                          </a:solidFill>
                          <a:latin typeface="Arial"/>
                        </a:rPr>
                        <a:t>6 al 19 de septiembre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32323"/>
                          </a:solidFill>
                          <a:latin typeface="Arial"/>
                        </a:rPr>
                        <a:t>6 al 18 de agosto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Lecciones aprendidas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Arial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80160"/>
          <a:ext cx="11064240" cy="41148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Situación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Lección aprendida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Acción futura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32323"/>
                          </a:solidFill>
                          <a:latin typeface="Arial"/>
                        </a:rPr>
                        <a:t>Información duplicada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Registrar lo mismo en dos herramientas genera diferencias de estados y fechas.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Definir Jira como fuente principal y actualizar Trello al cambiar un estado.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32323"/>
                          </a:solidFill>
                          <a:latin typeface="Arial"/>
                        </a:rPr>
                        <a:t>Distinto nivel de detalle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Seis tarjetas y diez historias producen porcentajes de avance diferentes.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Usar la misma lista de actividades en ambas herramientas.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32323"/>
                          </a:solidFill>
                          <a:latin typeface="Arial"/>
                        </a:rPr>
                        <a:t>Fechas de vencimiento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Varias historias vencen el mismo día (4 de octubre).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Revisar el avance con anticipación y priorizar.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32323"/>
                          </a:solidFill>
                          <a:latin typeface="Arial"/>
                        </a:rPr>
                        <a:t>Responsables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Las historias aparecen sin persona asignada en Jira.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Asignar un responsable a cada historia.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32323"/>
                          </a:solidFill>
                          <a:latin typeface="Arial"/>
                        </a:rPr>
                        <a:t>Dependencias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En el Gantt las tareas están encadenadas; un atraso desplaza las siguientes.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Analizar el impacto antes de mover fechas.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Conclusión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789920" cy="3409187"/>
          </a:xfrm>
          <a:prstGeom prst="rect">
            <a:avLst/>
          </a:prstGeom>
          <a:solidFill>
            <a:srgbClr val="FFFFFF"/>
          </a:solidFill>
          <a:ln w="22225">
            <a:solidFill>
              <a:srgbClr val="2EB5C9"/>
            </a:solidFill>
          </a:ln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232323"/>
                </a:solidFill>
                <a:latin typeface="Arial"/>
              </a:rPr>
              <a:t>El seguimiento con Gantt, Jira y Trello permitió conocer el estado de Corona (30 %), Banco Bansiso (30 %) y Fábrica de galletas (40 %).</a:t>
            </a:r>
          </a:p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232323"/>
                </a:solidFill>
                <a:latin typeface="Arial"/>
              </a:rPr>
              <a:t>Las tres herramientas se complementan: el Gantt muestra la secuencia, Jira el detalle de cada historia y Trello el flujo de trabajo.</a:t>
            </a:r>
          </a:p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232323"/>
                </a:solidFill>
                <a:latin typeface="Arial"/>
              </a:rPr>
              <a:t>Se detectaron diferencias de estados, fechas y porcentajes entre Jira y Trello que deben corregirse para tener un reporte confiable.</a:t>
            </a:r>
          </a:p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232323"/>
                </a:solidFill>
                <a:latin typeface="Arial"/>
              </a:rPr>
              <a:t>Nueve historias vencen el 4 de octubre sin estar terminadas, por lo que requieren atención prioritaria.</a:t>
            </a:r>
          </a:p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232323"/>
                </a:solidFill>
                <a:latin typeface="Arial"/>
              </a:rPr>
              <a:t>Los porcentajes corresponden al avance registrado; el cierre de cada proyecto debe sustentarse con pruebas, resultados y documentación final.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hlinkClick r:id="rId2"/>
            <a:extLst>
              <a:ext uri="{FF2B5EF4-FFF2-40B4-BE49-F238E27FC236}">
                <a16:creationId xmlns:a16="http://schemas.microsoft.com/office/drawing/2014/main" id="{8FF768D8-B948-FD46-0108-8B9BCC88AD56}"/>
              </a:ext>
            </a:extLst>
          </p:cNvPr>
          <p:cNvSpPr txBox="1"/>
          <p:nvPr/>
        </p:nvSpPr>
        <p:spPr>
          <a:xfrm>
            <a:off x="555171" y="2828836"/>
            <a:ext cx="10896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https://github.com/Cynthia21Morales/GPTI_CynthiaJasmineMT/blob/main/GPTI-Tema-6/Actividad%206.2%20Reporte%20de%20Practica_CynthiaMorales_GPTI_7ISCM.docx.pptx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F6A7A2A-A80D-F372-6A4E-E0C6772C990F}"/>
              </a:ext>
            </a:extLst>
          </p:cNvPr>
          <p:cNvSpPr txBox="1"/>
          <p:nvPr/>
        </p:nvSpPr>
        <p:spPr>
          <a:xfrm>
            <a:off x="468086" y="1360714"/>
            <a:ext cx="969917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dirty="0"/>
              <a:t>ANEXO LINK DE LA ACTIVIDAD SOLICITADA Y ENVIADA POR GITHUB:</a:t>
            </a:r>
          </a:p>
        </p:txBody>
      </p:sp>
    </p:spTree>
    <p:extLst>
      <p:ext uri="{BB962C8B-B14F-4D97-AF65-F5344CB8AC3E}">
        <p14:creationId xmlns:p14="http://schemas.microsoft.com/office/powerpoint/2010/main" val="26067303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1481</Words>
  <Application>Microsoft Office PowerPoint</Application>
  <PresentationFormat>Panorámica</PresentationFormat>
  <Paragraphs>189</Paragraphs>
  <Slides>16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Calibri</vt:lpstr>
      <vt:lpstr>Century Gothic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>Cynthia</dc:creator>
  <cp:keywords/>
  <dc:description>generated using python-pptx</dc:description>
  <cp:lastModifiedBy>Jasmine Morales</cp:lastModifiedBy>
  <cp:revision>10</cp:revision>
  <dcterms:created xsi:type="dcterms:W3CDTF">2013-01-27T09:14:16Z</dcterms:created>
  <dcterms:modified xsi:type="dcterms:W3CDTF">2026-10-04T01:40:22Z</dcterms:modified>
  <cp:category/>
</cp:coreProperties>
</file>