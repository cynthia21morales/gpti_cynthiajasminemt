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7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9">
            <a:extLst>
              <a:ext uri="{FF2B5EF4-FFF2-40B4-BE49-F238E27FC236}">
                <a16:creationId xmlns:a16="http://schemas.microsoft.com/office/drawing/2014/main" id="{D1774226-9D2B-E147-89EB-71FA1792E1E4}"/>
              </a:ext>
            </a:extLst>
          </p:cNvPr>
          <p:cNvSpPr txBox="1"/>
          <p:nvPr/>
        </p:nvSpPr>
        <p:spPr>
          <a:xfrm>
            <a:off x="2402908" y="1880767"/>
            <a:ext cx="7644625" cy="4924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Materia: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Gestion de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proyectos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TI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Semestre: </a:t>
            </a:r>
          </a:p>
          <a:p>
            <a:pPr algn="ctr"/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Septimo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semestre 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Especialidad: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Ingeniería en Sistemas Computacionales.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Nombre del alumno:</a:t>
            </a:r>
          </a:p>
          <a:p>
            <a:pPr algn="ctr"/>
            <a:r>
              <a:rPr lang="en-US" sz="16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Cynthia Jasmine Morales Torres / 231260014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Nombre del docente: 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Ing. Francisco Javier Mingo Velazquez 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Nombre del trabajo: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4.3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Ejercicios</a:t>
            </a:r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Frontera Comalapa, Chiapas. A 19 de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Septiembre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del 2026.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22D98D2F-F999-8872-E6B1-D4645B7CE37B}"/>
              </a:ext>
            </a:extLst>
          </p:cNvPr>
          <p:cNvSpPr txBox="1"/>
          <p:nvPr/>
        </p:nvSpPr>
        <p:spPr>
          <a:xfrm>
            <a:off x="2046984" y="997338"/>
            <a:ext cx="8356475" cy="7092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08"/>
              </a:lnSpc>
            </a:pPr>
            <a:r>
              <a:rPr lang="en-US" sz="16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Instituto Tecnológico de Frontera Comalapa </a:t>
            </a:r>
          </a:p>
          <a:p>
            <a:pPr algn="ctr">
              <a:lnSpc>
                <a:spcPts val="2908"/>
              </a:lnSpc>
            </a:pPr>
            <a:r>
              <a:rPr lang="en-US" sz="16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Modalidad Mixta</a:t>
            </a:r>
          </a:p>
        </p:txBody>
      </p:sp>
      <p:grpSp>
        <p:nvGrpSpPr>
          <p:cNvPr id="9" name="Group 2">
            <a:extLst>
              <a:ext uri="{FF2B5EF4-FFF2-40B4-BE49-F238E27FC236}">
                <a16:creationId xmlns:a16="http://schemas.microsoft.com/office/drawing/2014/main" id="{63B24F3B-A159-5C4E-1BB8-40F94AE32F73}"/>
              </a:ext>
            </a:extLst>
          </p:cNvPr>
          <p:cNvGrpSpPr/>
          <p:nvPr/>
        </p:nvGrpSpPr>
        <p:grpSpPr>
          <a:xfrm>
            <a:off x="860265" y="269788"/>
            <a:ext cx="2709599" cy="1198176"/>
            <a:chOff x="0" y="0"/>
            <a:chExt cx="3073400" cy="1308100"/>
          </a:xfrm>
        </p:grpSpPr>
        <p:sp>
          <p:nvSpPr>
            <p:cNvPr id="10" name="Freeform 3">
              <a:extLst>
                <a:ext uri="{FF2B5EF4-FFF2-40B4-BE49-F238E27FC236}">
                  <a16:creationId xmlns:a16="http://schemas.microsoft.com/office/drawing/2014/main" id="{16D0B516-9C79-8C1A-AFCA-250D2B7259B3}"/>
                </a:ext>
              </a:extLst>
            </p:cNvPr>
            <p:cNvSpPr/>
            <p:nvPr/>
          </p:nvSpPr>
          <p:spPr>
            <a:xfrm>
              <a:off x="0" y="0"/>
              <a:ext cx="3073400" cy="1308100"/>
            </a:xfrm>
            <a:custGeom>
              <a:avLst/>
              <a:gdLst/>
              <a:ahLst/>
              <a:cxnLst/>
              <a:rect l="l" t="t" r="r" b="b"/>
              <a:pathLst>
                <a:path w="3073400" h="1308100">
                  <a:moveTo>
                    <a:pt x="0" y="0"/>
                  </a:moveTo>
                  <a:lnTo>
                    <a:pt x="3073400" y="0"/>
                  </a:lnTo>
                  <a:lnTo>
                    <a:pt x="3073400" y="1308100"/>
                  </a:lnTo>
                  <a:lnTo>
                    <a:pt x="0" y="130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11" name="Group 4">
            <a:extLst>
              <a:ext uri="{FF2B5EF4-FFF2-40B4-BE49-F238E27FC236}">
                <a16:creationId xmlns:a16="http://schemas.microsoft.com/office/drawing/2014/main" id="{0D141512-0848-0B08-099F-B841F7C81054}"/>
              </a:ext>
            </a:extLst>
          </p:cNvPr>
          <p:cNvGrpSpPr/>
          <p:nvPr/>
        </p:nvGrpSpPr>
        <p:grpSpPr>
          <a:xfrm>
            <a:off x="9459465" y="237122"/>
            <a:ext cx="1872270" cy="1245240"/>
            <a:chOff x="0" y="0"/>
            <a:chExt cx="1981200" cy="1625600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4ECFD724-955D-2B03-6F49-9035E6E50066}"/>
                </a:ext>
              </a:extLst>
            </p:cNvPr>
            <p:cNvSpPr/>
            <p:nvPr/>
          </p:nvSpPr>
          <p:spPr>
            <a:xfrm>
              <a:off x="0" y="0"/>
              <a:ext cx="1981200" cy="1625600"/>
            </a:xfrm>
            <a:custGeom>
              <a:avLst/>
              <a:gdLst/>
              <a:ahLst/>
              <a:cxnLst/>
              <a:rect l="l" t="t" r="r" b="b"/>
              <a:pathLst>
                <a:path w="1981200" h="1625600">
                  <a:moveTo>
                    <a:pt x="0" y="0"/>
                  </a:moveTo>
                  <a:lnTo>
                    <a:pt x="1981200" y="0"/>
                  </a:lnTo>
                  <a:lnTo>
                    <a:pt x="1981200" y="1625600"/>
                  </a:lnTo>
                  <a:lnTo>
                    <a:pt x="0" y="162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3" name="Group 6">
            <a:extLst>
              <a:ext uri="{FF2B5EF4-FFF2-40B4-BE49-F238E27FC236}">
                <a16:creationId xmlns:a16="http://schemas.microsoft.com/office/drawing/2014/main" id="{B9F07331-BB55-7E52-8C66-C7FAC2988062}"/>
              </a:ext>
            </a:extLst>
          </p:cNvPr>
          <p:cNvGrpSpPr/>
          <p:nvPr/>
        </p:nvGrpSpPr>
        <p:grpSpPr>
          <a:xfrm>
            <a:off x="4609388" y="269788"/>
            <a:ext cx="3812814" cy="709234"/>
            <a:chOff x="0" y="0"/>
            <a:chExt cx="4343400" cy="901700"/>
          </a:xfrm>
        </p:grpSpPr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23E9AD08-7F29-5C7E-22DD-937DC5F96E03}"/>
                </a:ext>
              </a:extLst>
            </p:cNvPr>
            <p:cNvSpPr/>
            <p:nvPr/>
          </p:nvSpPr>
          <p:spPr>
            <a:xfrm>
              <a:off x="0" y="0"/>
              <a:ext cx="4343400" cy="901700"/>
            </a:xfrm>
            <a:custGeom>
              <a:avLst/>
              <a:gdLst/>
              <a:ahLst/>
              <a:cxnLst/>
              <a:rect l="l" t="t" r="r" b="b"/>
              <a:pathLst>
                <a:path w="4343400" h="901700">
                  <a:moveTo>
                    <a:pt x="0" y="0"/>
                  </a:moveTo>
                  <a:lnTo>
                    <a:pt x="4343400" y="0"/>
                  </a:lnTo>
                  <a:lnTo>
                    <a:pt x="4343400" y="901700"/>
                  </a:lnTo>
                  <a:lnTo>
                    <a:pt x="0" y="901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Presentación de la actividad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5394960" cy="4892040"/>
          </a:xfrm>
          <a:prstGeom prst="roundRect">
            <a:avLst/>
          </a:prstGeom>
          <a:solidFill>
            <a:srgbClr val="F2F5F8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46304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65B7D"/>
                </a:solidFill>
              </a:defRPr>
            </a:pPr>
            <a:r>
              <a:t>Propósito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38528"/>
            <a:ext cx="47548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Reconocer situaciones que pueden afectar un proyecto.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Organizar los riesgos según su origen y características.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Valorar su probabilidad e impacto.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Definir acciones de prevención y respuesta.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234440"/>
            <a:ext cx="5394960" cy="4892040"/>
          </a:xfrm>
          <a:prstGeom prst="roundRect">
            <a:avLst/>
          </a:prstGeom>
          <a:solidFill>
            <a:srgbClr val="F2F5F8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46304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65B7D"/>
                </a:solidFill>
              </a:defRPr>
            </a:pPr>
            <a:r>
              <a:t>Proyectos considerados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38528"/>
            <a:ext cx="47548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Simulación del proceso operativo y comercial de la empresa Corona.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Simulación de Procesos de Una Fábrica.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Simulación del Proceso de Atención de un Banco (Banco Bansiso).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6588252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Gestión de Proyectos TI • Unidad 4 • Gestión de riesgos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3653" y="1685837"/>
            <a:ext cx="10014216" cy="120032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1F344A"/>
                </a:solidFill>
              </a:defRPr>
            </a:pPr>
            <a:r>
              <a:rPr sz="4400" dirty="0"/>
              <a:t>Proyecto 1</a:t>
            </a:r>
          </a:p>
          <a:p>
            <a:pPr algn="ctr">
              <a:defRPr sz="1800">
                <a:solidFill>
                  <a:srgbClr val="365B7D"/>
                </a:solidFill>
              </a:defRPr>
            </a:pPr>
            <a:r>
              <a:rPr sz="2800" dirty="0" err="1"/>
              <a:t>Simulación</a:t>
            </a:r>
            <a:r>
              <a:rPr sz="2800" dirty="0"/>
              <a:t> del </a:t>
            </a:r>
            <a:r>
              <a:rPr sz="2800" dirty="0" err="1"/>
              <a:t>proceso</a:t>
            </a:r>
            <a:r>
              <a:rPr sz="2800" dirty="0"/>
              <a:t> </a:t>
            </a:r>
            <a:r>
              <a:rPr sz="2800" dirty="0" err="1"/>
              <a:t>operativo</a:t>
            </a:r>
            <a:r>
              <a:rPr sz="2800" dirty="0"/>
              <a:t> y </a:t>
            </a:r>
            <a:r>
              <a:rPr sz="2800" dirty="0" err="1"/>
              <a:t>comercial</a:t>
            </a:r>
            <a:r>
              <a:rPr sz="2800" dirty="0"/>
              <a:t> de la </a:t>
            </a:r>
            <a:r>
              <a:rPr sz="2800" dirty="0" err="1"/>
              <a:t>empresa</a:t>
            </a:r>
            <a:r>
              <a:rPr sz="2800" dirty="0"/>
              <a:t> Corona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0" y="3657600"/>
            <a:ext cx="3749039" cy="73152"/>
          </a:xfrm>
          <a:prstGeom prst="rect">
            <a:avLst/>
          </a:prstGeom>
          <a:solidFill>
            <a:srgbClr val="BD8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588252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Gestión de Proyectos TI • Unidad 4 • Gestión de riesgos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Corona • Datos del proyecto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3998806"/>
              </p:ext>
            </p:extLst>
          </p:nvPr>
        </p:nvGraphicFramePr>
        <p:xfrm>
          <a:off x="411480" y="1234440"/>
          <a:ext cx="1133856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 dirty="0" err="1"/>
                        <a:t>Elemento</a:t>
                      </a:r>
                      <a:endParaRPr sz="2400" dirty="0"/>
                    </a:p>
                  </a:txBody>
                  <a:tcPr>
                    <a:solidFill>
                      <a:srgbClr val="1F34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Información</a:t>
                      </a:r>
                    </a:p>
                  </a:txBody>
                  <a:tcPr>
                    <a:solidFill>
                      <a:srgbClr val="1F34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</a:defRPr>
                      </a:pPr>
                      <a:r>
                        <a:rPr sz="2400"/>
                        <a:t>Institución / referencia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</a:defRPr>
                      </a:pPr>
                      <a:r>
                        <a:rPr sz="2400"/>
                        <a:t>Grupo Modelo, S. A. de C. V.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</a:defRPr>
                      </a:pPr>
                      <a:r>
                        <a:rPr sz="2400"/>
                        <a:t>Área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</a:defRPr>
                      </a:pPr>
                      <a:r>
                        <a:rPr sz="2400"/>
                        <a:t>Producción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</a:defRPr>
                      </a:pPr>
                      <a:r>
                        <a:rPr sz="2400"/>
                        <a:t>Tipo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</a:defRPr>
                      </a:pPr>
                      <a:r>
                        <a:rPr sz="2400"/>
                        <a:t>Software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</a:defRPr>
                      </a:pPr>
                      <a:r>
                        <a:rPr sz="2400"/>
                        <a:t>Resultado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</a:defRPr>
                      </a:pPr>
                      <a:r>
                        <a:rPr sz="2400"/>
                        <a:t>Simulador del proceso operativo y comercial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</a:defRPr>
                      </a:pPr>
                      <a:r>
                        <a:rPr sz="2400"/>
                        <a:t>Procesos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</a:defRPr>
                      </a:pPr>
                      <a:r>
                        <a:rPr sz="2400"/>
                        <a:t>Producción, inventario, ventas y distribución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</a:defRPr>
                      </a:pPr>
                      <a:r>
                        <a:rPr sz="2400" dirty="0" err="1"/>
                        <a:t>Análisis</a:t>
                      </a:r>
                      <a:endParaRPr sz="2400" dirty="0"/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2D2D2D"/>
                          </a:solidFill>
                        </a:defRPr>
                      </a:pPr>
                      <a:r>
                        <a:rPr sz="2400" dirty="0" err="1"/>
                        <a:t>Diferentes</a:t>
                      </a:r>
                      <a:r>
                        <a:rPr sz="2400" dirty="0"/>
                        <a:t> </a:t>
                      </a:r>
                      <a:r>
                        <a:rPr sz="2400" dirty="0" err="1"/>
                        <a:t>escenarios</a:t>
                      </a:r>
                      <a:r>
                        <a:rPr sz="2400" dirty="0"/>
                        <a:t> y variables del </a:t>
                      </a:r>
                      <a:r>
                        <a:rPr sz="2400" dirty="0" err="1"/>
                        <a:t>proceso</a:t>
                      </a:r>
                      <a:endParaRPr sz="2400" dirty="0"/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588252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Gestión de Proyectos TI • Unidad 4 • Gestión de riesgos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4.1 Identificación de riesgos • Corona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2399561"/>
              </p:ext>
            </p:extLst>
          </p:nvPr>
        </p:nvGraphicFramePr>
        <p:xfrm>
          <a:off x="411480" y="1097280"/>
          <a:ext cx="11338560" cy="527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9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9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9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/>
                        <a:t>Categoría</a:t>
                      </a:r>
                    </a:p>
                  </a:txBody>
                  <a:tcPr>
                    <a:solidFill>
                      <a:srgbClr val="1F34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/>
                        <a:t>Riesgo identificado</a:t>
                      </a:r>
                    </a:p>
                  </a:txBody>
                  <a:tcPr>
                    <a:solidFill>
                      <a:srgbClr val="1F34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/>
                        <a:t>Posible efecto</a:t>
                      </a:r>
                    </a:p>
                  </a:txBody>
                  <a:tcPr>
                    <a:solidFill>
                      <a:srgbClr val="1F34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Proyecto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Retraso de actividades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Incumplimiento del cronograma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Proyecto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Cambio de alcance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Retrabajo y mayor tiempo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Tecnológico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Errores en el simulador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Resultados incorrectos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Tecnológico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Pérdida de archivos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Retrabajo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Recursos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Falta de tiempo o equipo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Retraso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Legal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Uso no autorizado de material o software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Restricciones de uso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Operativo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Variables mal configuradas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Resultados poco representativos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Natural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Sismo, inundación o tormenta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rPr sz="1800" dirty="0" err="1"/>
                        <a:t>Interrupción</a:t>
                      </a:r>
                      <a:r>
                        <a:rPr sz="1800" dirty="0"/>
                        <a:t> temporal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588252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Gestión de Proyectos TI • Unidad 4 • Gestión de riesgos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4.2 Análisis de riesgos • Corona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65B7D"/>
                </a:solidFill>
              </a:defRPr>
            </a:pPr>
            <a:r>
              <a:t>Escala de referencia: Bajo = 1, Medio = 2, Alto = 3. Valor = Probabilidad × Impacto.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348495"/>
              </p:ext>
            </p:extLst>
          </p:nvPr>
        </p:nvGraphicFramePr>
        <p:xfrm>
          <a:off x="411480" y="1143000"/>
          <a:ext cx="1133856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7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7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7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677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92331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 dirty="0" err="1"/>
                        <a:t>Riesgo</a:t>
                      </a:r>
                      <a:endParaRPr sz="1800" dirty="0"/>
                    </a:p>
                  </a:txBody>
                  <a:tcPr>
                    <a:solidFill>
                      <a:srgbClr val="1F34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/>
                        <a:t>Prob.</a:t>
                      </a:r>
                    </a:p>
                  </a:txBody>
                  <a:tcPr>
                    <a:solidFill>
                      <a:srgbClr val="1F34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/>
                        <a:t>Impacto</a:t>
                      </a:r>
                    </a:p>
                  </a:txBody>
                  <a:tcPr>
                    <a:solidFill>
                      <a:srgbClr val="1F34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/>
                        <a:t>Valor</a:t>
                      </a:r>
                    </a:p>
                  </a:txBody>
                  <a:tcPr>
                    <a:solidFill>
                      <a:srgbClr val="1F34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/>
                        <a:t>Nivel</a:t>
                      </a:r>
                    </a:p>
                  </a:txBody>
                  <a:tcPr>
                    <a:solidFill>
                      <a:srgbClr val="1F34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Retraso de actividades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Alto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Cambio de alcance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2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3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6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Medio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Errores del simulador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Medio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Pérdida de archivos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2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3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6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Medio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Variables mal configuradas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Medio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233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Uso no autorizado de software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1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3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3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800" dirty="0"/>
                        <a:t>Medio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588252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Análisis cuantitativo ilustrativo para el ejercicio; la clasificación real debe ajustarse al equipo del proyecto.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4.3 Estrategias de mitigación • Corona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3913589"/>
              </p:ext>
            </p:extLst>
          </p:nvPr>
        </p:nvGraphicFramePr>
        <p:xfrm>
          <a:off x="411480" y="1188720"/>
          <a:ext cx="1133856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9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9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9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926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 dirty="0" err="1"/>
                        <a:t>Riesgo</a:t>
                      </a:r>
                      <a:endParaRPr sz="1600" dirty="0"/>
                    </a:p>
                  </a:txBody>
                  <a:tcPr>
                    <a:solidFill>
                      <a:srgbClr val="1F34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Estrategia</a:t>
                      </a:r>
                    </a:p>
                  </a:txBody>
                  <a:tcPr>
                    <a:solidFill>
                      <a:srgbClr val="1F34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Acción de control</a:t>
                      </a:r>
                    </a:p>
                  </a:txBody>
                  <a:tcPr>
                    <a:solidFill>
                      <a:srgbClr val="1F34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Retrasos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Reducir probabilidad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Revisar avance y actualizar cronograma.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Cambio de alcance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Evitar / controlar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Definir y documentar cambios.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Errores del simulador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Reducir impacto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Realizar pruebas y validación.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Pérdida de archivos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Reducir impacto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Crear respaldos periódicos.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Variables incorrectas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Reducir probabilidad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Verificar parámetros antes de ejecutar.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92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Riesgos naturales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Reducir impacto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600" dirty="0" err="1"/>
                        <a:t>Respaldos</a:t>
                      </a:r>
                      <a:r>
                        <a:rPr sz="1600" dirty="0"/>
                        <a:t> y </a:t>
                      </a:r>
                      <a:r>
                        <a:rPr sz="1600" dirty="0" err="1"/>
                        <a:t>recuperación</a:t>
                      </a:r>
                      <a:r>
                        <a:rPr sz="1600" dirty="0"/>
                        <a:t>.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588252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Gestión de Proyectos TI • Unidad 4 • Gestión de riesgos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50457" y="1624283"/>
            <a:ext cx="6660606" cy="13234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1F344A"/>
                </a:solidFill>
              </a:defRPr>
            </a:pPr>
            <a:r>
              <a:rPr sz="4800" dirty="0"/>
              <a:t>Proyecto 2</a:t>
            </a:r>
          </a:p>
          <a:p>
            <a:pPr algn="ctr">
              <a:defRPr sz="1800">
                <a:solidFill>
                  <a:srgbClr val="365B7D"/>
                </a:solidFill>
              </a:defRPr>
            </a:pPr>
            <a:r>
              <a:rPr sz="3200" dirty="0" err="1"/>
              <a:t>Simulación</a:t>
            </a:r>
            <a:r>
              <a:rPr sz="3200" dirty="0"/>
              <a:t> de </a:t>
            </a:r>
            <a:r>
              <a:rPr sz="3200" dirty="0" err="1"/>
              <a:t>Procesos</a:t>
            </a:r>
            <a:r>
              <a:rPr sz="3200" dirty="0"/>
              <a:t> de Una </a:t>
            </a:r>
            <a:r>
              <a:rPr sz="3200" dirty="0" err="1"/>
              <a:t>Fábrica</a:t>
            </a:r>
            <a:endParaRPr sz="3200" dirty="0"/>
          </a:p>
        </p:txBody>
      </p:sp>
      <p:sp>
        <p:nvSpPr>
          <p:cNvPr id="5" name="Rectangle 4"/>
          <p:cNvSpPr/>
          <p:nvPr/>
        </p:nvSpPr>
        <p:spPr>
          <a:xfrm>
            <a:off x="4206240" y="3657600"/>
            <a:ext cx="3749039" cy="73152"/>
          </a:xfrm>
          <a:prstGeom prst="rect">
            <a:avLst/>
          </a:prstGeom>
          <a:solidFill>
            <a:srgbClr val="BD8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588252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Gestión de Proyectos TI • Unidad 4 • Gestión de riesgos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Fábrica • Datos disponibles del proyecto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9904171"/>
              </p:ext>
            </p:extLst>
          </p:nvPr>
        </p:nvGraphicFramePr>
        <p:xfrm>
          <a:off x="411480" y="1051560"/>
          <a:ext cx="113385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92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Elemento</a:t>
                      </a:r>
                    </a:p>
                  </a:txBody>
                  <a:tcPr>
                    <a:solidFill>
                      <a:srgbClr val="1F34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Información</a:t>
                      </a:r>
                    </a:p>
                  </a:txBody>
                  <a:tcPr>
                    <a:solidFill>
                      <a:srgbClr val="1F34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rPr sz="1600" dirty="0" err="1"/>
                        <a:t>Institución</a:t>
                      </a:r>
                      <a:endParaRPr sz="16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Instituto Tecnológico de Frontera Comalapa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Área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Ingeniería en Sistemas Computacionales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Responsable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Héctor Yazid Anzueto López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Inicio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23 de agosto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Término estimado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4 de octubre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Duración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6 semanas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Propósito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Simular procesos de una fábrica y observar cómo variables afectan la producción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892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Usuarios de interés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rPr sz="1600" dirty="0" err="1"/>
                        <a:t>Empresas</a:t>
                      </a:r>
                      <a:r>
                        <a:rPr sz="1600" dirty="0"/>
                        <a:t> o </a:t>
                      </a:r>
                      <a:r>
                        <a:rPr sz="1600" dirty="0" err="1"/>
                        <a:t>dueños</a:t>
                      </a:r>
                      <a:r>
                        <a:rPr sz="1600" dirty="0"/>
                        <a:t> de </a:t>
                      </a:r>
                      <a:r>
                        <a:rPr sz="1600" dirty="0" err="1"/>
                        <a:t>fábricas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interesados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en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eficiencia</a:t>
                      </a:r>
                      <a:endParaRPr sz="1600" dirty="0"/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588252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Gestión de Proyectos TI • Unidad 4 • Gestión de riesgos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4.1 Identificación de riesgos • Fábrica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263841"/>
              </p:ext>
            </p:extLst>
          </p:nvPr>
        </p:nvGraphicFramePr>
        <p:xfrm>
          <a:off x="411480" y="1097280"/>
          <a:ext cx="1133856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9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9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9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/>
                        <a:t>Categoría</a:t>
                      </a:r>
                    </a:p>
                  </a:txBody>
                  <a:tcPr>
                    <a:solidFill>
                      <a:srgbClr val="1F34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/>
                        <a:t>Riesgo identificado</a:t>
                      </a:r>
                    </a:p>
                  </a:txBody>
                  <a:tcPr>
                    <a:solidFill>
                      <a:srgbClr val="1F34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/>
                        <a:t>Posible efecto</a:t>
                      </a:r>
                    </a:p>
                  </a:txBody>
                  <a:tcPr>
                    <a:solidFill>
                      <a:srgbClr val="1F34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Proyecto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Retraso del desarrollo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Entrega fuera de tiempo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Proyecto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Cambios en requerimientos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Retrabajo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Tecnológico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Errores en el modelo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Resultados incorrectos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Tecnológico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Fallas de software o archivos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Interrupción del desarrollo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Operativo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Variables de producción incorrectas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Resultados poco representativos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Recursos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Tiempo o equipo insuficiente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Avance limitado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Información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Parámetros incompletos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Modelo poco preciso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rPr sz="1800" dirty="0"/>
                        <a:t>Natural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Sismo, inundación o tormenta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2D2D"/>
                          </a:solidFill>
                        </a:defRPr>
                      </a:pPr>
                      <a:r>
                        <a:rPr sz="1800" dirty="0" err="1"/>
                        <a:t>Suspensión</a:t>
                      </a:r>
                      <a:r>
                        <a:rPr sz="1800" dirty="0"/>
                        <a:t> temporal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588252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Gestión de Proyectos TI • Unidad 4 • Gestión de riesgos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4.2 Análisis de riesgos • Fábrica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65B7D"/>
                </a:solidFill>
              </a:defRPr>
            </a:pPr>
            <a:r>
              <a:t>Escala de referencia para el ejercicio: 1 = bajo, 2 = medio, 3 = alto.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2859624"/>
              </p:ext>
            </p:extLst>
          </p:nvPr>
        </p:nvGraphicFramePr>
        <p:xfrm>
          <a:off x="411480" y="1143000"/>
          <a:ext cx="1133856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7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7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7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677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579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/>
                        <a:t>Riesgo</a:t>
                      </a:r>
                    </a:p>
                  </a:txBody>
                  <a:tcPr>
                    <a:solidFill>
                      <a:srgbClr val="1F34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/>
                        <a:t>Prob.</a:t>
                      </a:r>
                    </a:p>
                  </a:txBody>
                  <a:tcPr>
                    <a:solidFill>
                      <a:srgbClr val="1F34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/>
                        <a:t>Impacto</a:t>
                      </a:r>
                    </a:p>
                  </a:txBody>
                  <a:tcPr>
                    <a:solidFill>
                      <a:srgbClr val="1F34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/>
                        <a:t>Valor</a:t>
                      </a:r>
                    </a:p>
                  </a:txBody>
                  <a:tcPr>
                    <a:solidFill>
                      <a:srgbClr val="1F34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/>
                        <a:t>Nivel</a:t>
                      </a:r>
                    </a:p>
                  </a:txBody>
                  <a:tcPr>
                    <a:solidFill>
                      <a:srgbClr val="1F34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Retraso del desarrollo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Alto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Cambios en requerimientos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2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3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6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Medio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Errores en el modelo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Medio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Fallas de software/archivos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2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3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6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Medio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Variables incorrectas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Medio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Tiempo o equipo insuficiente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2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3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6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Medio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Parámetros incompletos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800" dirty="0"/>
                        <a:t>Medio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588252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Valores propuestos para convertir la identificación en un ejercicio de análisis; deben validarse con el equipo.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4.3 Estrategias de mitigación • Fábrica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941712"/>
              </p:ext>
            </p:extLst>
          </p:nvPr>
        </p:nvGraphicFramePr>
        <p:xfrm>
          <a:off x="411480" y="1188720"/>
          <a:ext cx="1133856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9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9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9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926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 dirty="0" err="1"/>
                        <a:t>Riesgo</a:t>
                      </a:r>
                      <a:endParaRPr sz="1800" dirty="0"/>
                    </a:p>
                  </a:txBody>
                  <a:tcPr>
                    <a:solidFill>
                      <a:srgbClr val="1F34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/>
                        <a:t>Medida propuesta</a:t>
                      </a:r>
                    </a:p>
                  </a:txBody>
                  <a:tcPr>
                    <a:solidFill>
                      <a:srgbClr val="1F34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/>
                        <a:t>Seguimiento</a:t>
                      </a:r>
                    </a:p>
                  </a:txBody>
                  <a:tcPr>
                    <a:solidFill>
                      <a:srgbClr val="1F34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Retraso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Dividir actividades y revisar avances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Actualizar cronograma semanalmente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Cambios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Definir requisitos antes de programar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Registrar cambios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Errores del modelo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Probar escenarios y validar resultados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Documentar pruebas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Fallas de archivos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Respaldar versiones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Revisar copias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Variables incorrectas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Verificar parámetros de entrada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Comparar escenarios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92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Recursos insuficientes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Planificar disponibilidad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800" dirty="0" err="1"/>
                        <a:t>Revisar</a:t>
                      </a:r>
                      <a:r>
                        <a:rPr sz="1800" dirty="0"/>
                        <a:t> </a:t>
                      </a:r>
                      <a:r>
                        <a:rPr sz="1800" dirty="0" err="1"/>
                        <a:t>recursos</a:t>
                      </a:r>
                      <a:endParaRPr sz="1800" dirty="0"/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588252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Gestión de Proyectos TI • Unidad 4 • Gestión de riesgos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945044" y="1747392"/>
            <a:ext cx="8271432" cy="107721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1F344A"/>
                </a:solidFill>
              </a:defRPr>
            </a:pPr>
            <a:r>
              <a:rPr sz="4000" dirty="0"/>
              <a:t>Proyecto 3</a:t>
            </a:r>
          </a:p>
          <a:p>
            <a:pPr algn="ctr">
              <a:defRPr sz="1800">
                <a:solidFill>
                  <a:srgbClr val="365B7D"/>
                </a:solidFill>
              </a:defRPr>
            </a:pPr>
            <a:r>
              <a:rPr sz="2400" dirty="0" err="1"/>
              <a:t>Simulación</a:t>
            </a:r>
            <a:r>
              <a:rPr sz="2400" dirty="0"/>
              <a:t> del </a:t>
            </a:r>
            <a:r>
              <a:rPr sz="2400" dirty="0" err="1"/>
              <a:t>Proceso</a:t>
            </a:r>
            <a:r>
              <a:rPr sz="2400" dirty="0"/>
              <a:t> de </a:t>
            </a:r>
            <a:r>
              <a:rPr sz="2400" dirty="0" err="1"/>
              <a:t>Atención</a:t>
            </a:r>
            <a:r>
              <a:rPr sz="2400" dirty="0"/>
              <a:t> de un Banco (Banco </a:t>
            </a:r>
            <a:r>
              <a:rPr sz="2400" dirty="0" err="1"/>
              <a:t>Bansiso</a:t>
            </a:r>
            <a:r>
              <a:rPr sz="2400" dirty="0"/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4206240" y="3657600"/>
            <a:ext cx="3749039" cy="73152"/>
          </a:xfrm>
          <a:prstGeom prst="rect">
            <a:avLst/>
          </a:prstGeom>
          <a:solidFill>
            <a:srgbClr val="BD8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588252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Gestión de Proyectos TI • Unidad 4 • Gestión de riesgos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Banco Bansiso • Datos del proyecto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8023482"/>
              </p:ext>
            </p:extLst>
          </p:nvPr>
        </p:nvGraphicFramePr>
        <p:xfrm>
          <a:off x="411480" y="1234440"/>
          <a:ext cx="113385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 dirty="0" err="1"/>
                        <a:t>Elemento</a:t>
                      </a:r>
                      <a:endParaRPr sz="1800" dirty="0"/>
                    </a:p>
                  </a:txBody>
                  <a:tcPr>
                    <a:solidFill>
                      <a:srgbClr val="1F34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1800"/>
                        <a:t>Información</a:t>
                      </a:r>
                    </a:p>
                  </a:txBody>
                  <a:tcPr>
                    <a:solidFill>
                      <a:srgbClr val="1F34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Institución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Banco Bansiso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Área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Atención a clientes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Tipo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Tecnológico, software y educativo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Resultado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Simulador para comparar configuraciones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Proceso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Llegada de clientes, filas y atención en ventanillas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</a:defRPr>
                      </a:pPr>
                      <a:r>
                        <a:rPr sz="1800"/>
                        <a:t>Análisis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</a:defRPr>
                      </a:pPr>
                      <a:r>
                        <a:rPr sz="1800" dirty="0" err="1"/>
                        <a:t>Tiempos</a:t>
                      </a:r>
                      <a:r>
                        <a:rPr sz="1800" dirty="0"/>
                        <a:t> de </a:t>
                      </a:r>
                      <a:r>
                        <a:rPr sz="1800" dirty="0" err="1"/>
                        <a:t>espera</a:t>
                      </a:r>
                      <a:r>
                        <a:rPr sz="1800" dirty="0"/>
                        <a:t> y </a:t>
                      </a:r>
                      <a:r>
                        <a:rPr sz="1800" dirty="0" err="1"/>
                        <a:t>diferentes</a:t>
                      </a:r>
                      <a:r>
                        <a:rPr sz="1800" dirty="0"/>
                        <a:t> </a:t>
                      </a:r>
                      <a:r>
                        <a:rPr sz="1800" dirty="0" err="1"/>
                        <a:t>configuraciones</a:t>
                      </a:r>
                      <a:endParaRPr sz="1800" dirty="0"/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588252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Gestión de Proyectos TI • Unidad 4 • Gestión de riesgos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4.1 Identificación de riesgos • Banco Bansiso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3432014"/>
              </p:ext>
            </p:extLst>
          </p:nvPr>
        </p:nvGraphicFramePr>
        <p:xfrm>
          <a:off x="411480" y="1051560"/>
          <a:ext cx="113385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9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9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9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 dirty="0" err="1"/>
                        <a:t>Categoría</a:t>
                      </a:r>
                      <a:endParaRPr sz="1600" dirty="0"/>
                    </a:p>
                  </a:txBody>
                  <a:tcPr>
                    <a:solidFill>
                      <a:srgbClr val="1F34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Riesgo identificado</a:t>
                      </a:r>
                    </a:p>
                  </a:txBody>
                  <a:tcPr>
                    <a:solidFill>
                      <a:srgbClr val="1F34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Posible efecto</a:t>
                      </a:r>
                    </a:p>
                  </a:txBody>
                  <a:tcPr>
                    <a:solidFill>
                      <a:srgbClr val="1F34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Proyecto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Retraso en programación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Retraso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Proyecto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Cambios en requisitos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Retrabajo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Tecnológico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Error en lógica de colas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Resultados incorrectos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Tecnológico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Ventanillas mal configuradas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Simulación poco confiable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Recursos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Falta de equipo o tiempo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Retraso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Legal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Uso de datos reales de clientes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Riesgo de privacidad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Legal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Software sin autorización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Restricciones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Operativo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Escenarios insuficientes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Análisis limitado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Natural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Sismo, inundación o tormenta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2D2D"/>
                          </a:solidFill>
                        </a:defRPr>
                      </a:pPr>
                      <a:r>
                        <a:rPr sz="1600" dirty="0" err="1"/>
                        <a:t>Suspensión</a:t>
                      </a:r>
                      <a:r>
                        <a:rPr sz="1600" dirty="0"/>
                        <a:t> temporal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588252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Gestión de Proyectos TI • Unidad 4 • Gestión de riesgos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4.2 Análisis de riesgos • Banco Bansiso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65B7D"/>
                </a:solidFill>
              </a:defRPr>
            </a:pPr>
            <a:r>
              <a:t>Escala de referencia: 1 = bajo, 2 = medio, 3 = alto.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1645234"/>
              </p:ext>
            </p:extLst>
          </p:nvPr>
        </p:nvGraphicFramePr>
        <p:xfrm>
          <a:off x="411480" y="1143000"/>
          <a:ext cx="1133856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7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7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7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677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579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Riesgo</a:t>
                      </a:r>
                    </a:p>
                  </a:txBody>
                  <a:tcPr>
                    <a:solidFill>
                      <a:srgbClr val="1F34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Prob.</a:t>
                      </a:r>
                    </a:p>
                  </a:txBody>
                  <a:tcPr>
                    <a:solidFill>
                      <a:srgbClr val="1F34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Impacto</a:t>
                      </a:r>
                    </a:p>
                  </a:txBody>
                  <a:tcPr>
                    <a:solidFill>
                      <a:srgbClr val="1F34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Valor</a:t>
                      </a:r>
                    </a:p>
                  </a:txBody>
                  <a:tcPr>
                    <a:solidFill>
                      <a:srgbClr val="1F34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sz="1600"/>
                        <a:t>Nivel</a:t>
                      </a:r>
                    </a:p>
                  </a:txBody>
                  <a:tcPr>
                    <a:solidFill>
                      <a:srgbClr val="1F34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Retraso en programación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Alto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Cambios en requisitos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2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3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6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Medio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Error en lógica de colas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Medio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Ventanillas mal configuradas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2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3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6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Medio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Falta de equipo o tiempo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Medio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Uso de datos reales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1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3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3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Medio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600" dirty="0" err="1"/>
                        <a:t>Escenarios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insuficientes</a:t>
                      </a:r>
                      <a:endParaRPr sz="16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600"/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600" dirty="0"/>
                        <a:t>Medio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588252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Gestión de Proyectos TI • Unidad 4 • Gestión de riesgos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4.3 Estrategias de mitigación • Banco Bansiso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745271"/>
              </p:ext>
            </p:extLst>
          </p:nvPr>
        </p:nvGraphicFramePr>
        <p:xfrm>
          <a:off x="411480" y="1188720"/>
          <a:ext cx="1133856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9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9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9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Riesgo</a:t>
                      </a:r>
                    </a:p>
                  </a:txBody>
                  <a:tcPr>
                    <a:solidFill>
                      <a:srgbClr val="1F34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Estrategia</a:t>
                      </a:r>
                    </a:p>
                  </a:txBody>
                  <a:tcPr>
                    <a:solidFill>
                      <a:srgbClr val="1F34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 dirty="0" err="1"/>
                        <a:t>Acción</a:t>
                      </a:r>
                      <a:endParaRPr sz="2000" dirty="0"/>
                    </a:p>
                  </a:txBody>
                  <a:tcPr>
                    <a:solidFill>
                      <a:srgbClr val="1F34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400"/>
                        <a:t>Retraso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400"/>
                        <a:t>Reducir probabilidad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400"/>
                        <a:t>Controlar el cronograma.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400"/>
                        <a:t>Cambios de requisitos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400"/>
                        <a:t>Controlar cambios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400"/>
                        <a:t>Definir requisitos antes del desarrollo.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400"/>
                        <a:t>Lógica de colas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400"/>
                        <a:t>Reducir impacto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400"/>
                        <a:t>Probar diferentes escenarios.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400"/>
                        <a:t>Ventanillas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400"/>
                        <a:t>Prevenir errores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400"/>
                        <a:t>Validar parámetros.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400"/>
                        <a:t>Recursos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400"/>
                        <a:t>Planificar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400"/>
                        <a:t>Revisar equipo y tiempo disponibles.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400"/>
                        <a:t>Privacidad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400"/>
                        <a:t>Evitar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400"/>
                        <a:t>Utilizar datos ficticios.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400"/>
                        <a:t>Escenarios insuficientes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400"/>
                        <a:t>Reducir impacto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rPr sz="1400" dirty="0" err="1"/>
                        <a:t>Definir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escenarios</a:t>
                      </a:r>
                      <a:r>
                        <a:rPr sz="1400" dirty="0"/>
                        <a:t> de </a:t>
                      </a:r>
                      <a:r>
                        <a:rPr sz="1400" dirty="0" err="1"/>
                        <a:t>prueba</a:t>
                      </a:r>
                      <a:r>
                        <a:rPr sz="1400" dirty="0"/>
                        <a:t>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588252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Gestión de Proyectos TI • Unidad 4 • Gestión de riesgos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Clasificación general de riesgos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5394960" cy="4892040"/>
          </a:xfrm>
          <a:prstGeom prst="roundRect">
            <a:avLst/>
          </a:prstGeom>
          <a:solidFill>
            <a:srgbClr val="F2F5F8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46304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65B7D"/>
                </a:solidFill>
              </a:defRPr>
            </a:pPr>
            <a:r>
              <a:t>Riesgos del proyecto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38528"/>
            <a:ext cx="47548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Planificación, alcance, tiempos y recursos.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Ejemplos: retrasos y cambios de alcance.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234440"/>
            <a:ext cx="5394960" cy="4892040"/>
          </a:xfrm>
          <a:prstGeom prst="roundRect">
            <a:avLst/>
          </a:prstGeom>
          <a:solidFill>
            <a:srgbClr val="F2F5F8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46304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65B7D"/>
                </a:solidFill>
              </a:defRPr>
            </a:pPr>
            <a:r>
              <a:t>Riesgos tecnológicos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38528"/>
            <a:ext cx="47548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Software, hardware, integración y archivos.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Ejemplos: errores, incompatibilidad y pérdida de información.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4343400"/>
            <a:ext cx="5394960" cy="1600200"/>
          </a:xfrm>
          <a:prstGeom prst="roundRect">
            <a:avLst/>
          </a:prstGeom>
          <a:solidFill>
            <a:srgbClr val="F2F5F8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452628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65B7D"/>
                </a:solidFill>
              </a:defRPr>
            </a:pPr>
            <a:r>
              <a:t>Riesgos legales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892040"/>
            <a:ext cx="4800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2D2D2D"/>
                </a:solidFill>
              </a:defRPr>
            </a:pPr>
            <a:r>
              <a:t>Permisos, licencias, privacidad y uso de materiales.</a:t>
            </a:r>
          </a:p>
          <a:p>
            <a:pPr>
              <a:spcAft>
                <a:spcPts val="1000"/>
              </a:spcAft>
              <a:defRPr sz="1200">
                <a:solidFill>
                  <a:srgbClr val="2D2D2D"/>
                </a:solidFill>
              </a:defRPr>
            </a:pPr>
            <a:r>
              <a:t>Ejemplos: software no autorizado y datos reales.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4343400"/>
            <a:ext cx="5394960" cy="1600200"/>
          </a:xfrm>
          <a:prstGeom prst="roundRect">
            <a:avLst/>
          </a:prstGeom>
          <a:solidFill>
            <a:srgbClr val="F2F5F8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4526280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65B7D"/>
                </a:solidFill>
              </a:defRPr>
            </a:pPr>
            <a:r>
              <a:t>Riesgos operativos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892040"/>
            <a:ext cx="4800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2D2D2D"/>
                </a:solidFill>
              </a:defRPr>
            </a:pPr>
            <a:r>
              <a:t>Funcionamiento del proceso simulado.</a:t>
            </a:r>
          </a:p>
          <a:p>
            <a:pPr>
              <a:spcAft>
                <a:spcPts val="1000"/>
              </a:spcAft>
              <a:defRPr sz="1200">
                <a:solidFill>
                  <a:srgbClr val="2D2D2D"/>
                </a:solidFill>
              </a:defRPr>
            </a:pPr>
            <a:r>
              <a:t>Ejemplos: parámetros o variables incorrectas.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6588252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Gestión de Proyectos TI • Unidad 4 • Gestión de riesgos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Comparación de gestión de riesgos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3191533"/>
              </p:ext>
            </p:extLst>
          </p:nvPr>
        </p:nvGraphicFramePr>
        <p:xfrm>
          <a:off x="411480" y="1143000"/>
          <a:ext cx="1133856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8862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dirty="0" err="1"/>
                        <a:t>Aspecto</a:t>
                      </a:r>
                      <a:endParaRPr sz="1400" dirty="0"/>
                    </a:p>
                  </a:txBody>
                  <a:tcPr>
                    <a:solidFill>
                      <a:srgbClr val="1F34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Corona</a:t>
                      </a:r>
                    </a:p>
                  </a:txBody>
                  <a:tcPr>
                    <a:solidFill>
                      <a:srgbClr val="1F34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Fábrica</a:t>
                      </a:r>
                    </a:p>
                  </a:txBody>
                  <a:tcPr>
                    <a:solidFill>
                      <a:srgbClr val="1F34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/>
                        <a:t>Banco Bansiso</a:t>
                      </a:r>
                    </a:p>
                  </a:txBody>
                  <a:tcPr>
                    <a:solidFill>
                      <a:srgbClr val="1F34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8862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D2D2D"/>
                          </a:solidFill>
                        </a:defRPr>
                      </a:pPr>
                      <a:r>
                        <a:rPr sz="1400"/>
                        <a:t>Proceso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D2D2D"/>
                          </a:solidFill>
                        </a:defRPr>
                      </a:pPr>
                      <a:r>
                        <a:rPr sz="1400"/>
                        <a:t>Producción y comercialización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D2D2D"/>
                          </a:solidFill>
                        </a:defRPr>
                      </a:pPr>
                      <a:r>
                        <a:rPr sz="1400"/>
                        <a:t>Procesos de producción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D2D2D"/>
                          </a:solidFill>
                        </a:defRPr>
                      </a:pPr>
                      <a:r>
                        <a:rPr sz="1400"/>
                        <a:t>Atención bancaria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8862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D2D2D"/>
                          </a:solidFill>
                        </a:defRPr>
                      </a:pPr>
                      <a:r>
                        <a:rPr sz="1400"/>
                        <a:t>Riesgo principal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D2D2D"/>
                          </a:solidFill>
                        </a:defRPr>
                      </a:pPr>
                      <a:r>
                        <a:rPr sz="1400"/>
                        <a:t>Retrasos / alcance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D2D2D"/>
                          </a:solidFill>
                        </a:defRPr>
                      </a:pPr>
                      <a:r>
                        <a:rPr sz="1400"/>
                        <a:t>Retrasos / variables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D2D2D"/>
                          </a:solidFill>
                        </a:defRPr>
                      </a:pPr>
                      <a:r>
                        <a:rPr sz="1400"/>
                        <a:t>Retrasos / requisitos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8862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D2D2D"/>
                          </a:solidFill>
                        </a:defRPr>
                      </a:pPr>
                      <a:r>
                        <a:rPr sz="1400"/>
                        <a:t>Tecnológico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D2D2D"/>
                          </a:solidFill>
                        </a:defRPr>
                      </a:pPr>
                      <a:r>
                        <a:rPr sz="1400"/>
                        <a:t>Errores del simulador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D2D2D"/>
                          </a:solidFill>
                        </a:defRPr>
                      </a:pPr>
                      <a:r>
                        <a:rPr sz="1400"/>
                        <a:t>Errores del modelo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D2D2D"/>
                          </a:solidFill>
                        </a:defRPr>
                      </a:pPr>
                      <a:r>
                        <a:rPr sz="1400"/>
                        <a:t>Lógica de colas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8862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D2D2D"/>
                          </a:solidFill>
                        </a:defRPr>
                      </a:pPr>
                      <a:r>
                        <a:rPr sz="1400"/>
                        <a:t>Legal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D2D2D"/>
                          </a:solidFill>
                        </a:defRPr>
                      </a:pPr>
                      <a:r>
                        <a:rPr sz="1400"/>
                        <a:t>Material y software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D2D2D"/>
                          </a:solidFill>
                        </a:defRPr>
                      </a:pPr>
                      <a:r>
                        <a:rPr sz="1400"/>
                        <a:t>Uso de recursos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D2D2D"/>
                          </a:solidFill>
                        </a:defRPr>
                      </a:pPr>
                      <a:r>
                        <a:rPr sz="1400"/>
                        <a:t>Datos de clientes / software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8862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D2D2D"/>
                          </a:solidFill>
                        </a:defRPr>
                      </a:pPr>
                      <a:r>
                        <a:rPr sz="1400"/>
                        <a:t>Operativo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D2D2D"/>
                          </a:solidFill>
                        </a:defRPr>
                      </a:pPr>
                      <a:r>
                        <a:rPr sz="1400"/>
                        <a:t>Producción, inventario y distribución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D2D2D"/>
                          </a:solidFill>
                        </a:defRPr>
                      </a:pPr>
                      <a:r>
                        <a:rPr sz="1400"/>
                        <a:t>Variables de producción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D2D2D"/>
                          </a:solidFill>
                        </a:defRPr>
                      </a:pPr>
                      <a:r>
                        <a:rPr sz="1400"/>
                        <a:t>Llegadas, filas y ventanillas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8868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D2D2D"/>
                          </a:solidFill>
                        </a:defRPr>
                      </a:pPr>
                      <a:r>
                        <a:rPr sz="1400"/>
                        <a:t>Prevención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D2D2D"/>
                          </a:solidFill>
                        </a:defRPr>
                      </a:pPr>
                      <a:r>
                        <a:rPr sz="1400"/>
                        <a:t>Pruebas, respaldos y alcance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D2D2D"/>
                          </a:solidFill>
                        </a:defRPr>
                      </a:pPr>
                      <a:r>
                        <a:rPr sz="1400"/>
                        <a:t>Pruebas, parámetros y cronograma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2D2D2D"/>
                          </a:solidFill>
                        </a:defRPr>
                      </a:pPr>
                      <a:r>
                        <a:rPr sz="1400" dirty="0" err="1"/>
                        <a:t>Pruebas</a:t>
                      </a:r>
                      <a:r>
                        <a:rPr sz="1400" dirty="0"/>
                        <a:t>, </a:t>
                      </a:r>
                      <a:r>
                        <a:rPr sz="1400" dirty="0" err="1"/>
                        <a:t>parámetros</a:t>
                      </a:r>
                      <a:r>
                        <a:rPr sz="1400" dirty="0"/>
                        <a:t> y </a:t>
                      </a:r>
                      <a:r>
                        <a:rPr sz="1400" dirty="0" err="1"/>
                        <a:t>escenarios</a:t>
                      </a:r>
                      <a:endParaRPr sz="1400" dirty="0"/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588252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Gestión de Proyectos TI • Unidad 4 • Gestión de riesgos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Resultados esperados y conclusión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5394960" cy="4892040"/>
          </a:xfrm>
          <a:prstGeom prst="roundRect">
            <a:avLst/>
          </a:prstGeom>
          <a:solidFill>
            <a:srgbClr val="F2F5F8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46304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65B7D"/>
                </a:solidFill>
              </a:defRPr>
            </a:pPr>
            <a:r>
              <a:t>Resultados esperados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38528"/>
            <a:ext cx="47548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Identificar riesgos propios de cada proyecto.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Clasificarlos según su naturaleza.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Estimar probabilidad e impacto.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Relacionar cada riesgo con una acción de control.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234440"/>
            <a:ext cx="5394960" cy="4892040"/>
          </a:xfrm>
          <a:prstGeom prst="roundRect">
            <a:avLst/>
          </a:prstGeom>
          <a:solidFill>
            <a:srgbClr val="F2F5F8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46304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65B7D"/>
                </a:solidFill>
              </a:defRPr>
            </a:pPr>
            <a:r>
              <a:t>Conclusión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38528"/>
            <a:ext cx="47548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La gestión de riesgos permite anticipar situaciones que pueden afectar el desarrollo de un proyecto.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En los tres proyectos se requieren pruebas, respaldos, validación, control de cambios y seguimiento del cronograma.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</a:defRPr>
            </a:pPr>
            <a:r>
              <a:t>El análisis permite establecer medidas antes de que un riesgo produzca una afectación mayor.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6588252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Gestión de Proyectos TI • Unidad 4 • Gestión de riesgos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1433</Words>
  <Application>Microsoft Office PowerPoint</Application>
  <PresentationFormat>Panorámica</PresentationFormat>
  <Paragraphs>435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4" baseType="lpstr">
      <vt:lpstr>Arial</vt:lpstr>
      <vt:lpstr>Calibri</vt:lpstr>
      <vt:lpstr>Century Gothic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Cynthia</dc:creator>
  <cp:keywords/>
  <dc:description>generated using python-pptx</dc:description>
  <cp:lastModifiedBy>Jasmine Morales</cp:lastModifiedBy>
  <cp:revision>2</cp:revision>
  <dcterms:created xsi:type="dcterms:W3CDTF">2013-01-27T09:14:16Z</dcterms:created>
  <dcterms:modified xsi:type="dcterms:W3CDTF">2026-09-21T16:24:09Z</dcterms:modified>
  <cp:category/>
</cp:coreProperties>
</file>