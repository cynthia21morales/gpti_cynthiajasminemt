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85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255287-0E55-FC71-85CB-BFAF207F1E06}"/>
              </a:ext>
            </a:extLst>
          </p:cNvPr>
          <p:cNvSpPr txBox="1"/>
          <p:nvPr/>
        </p:nvSpPr>
        <p:spPr>
          <a:xfrm>
            <a:off x="2936240" y="5528732"/>
            <a:ext cx="6482080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latin typeface="Bahnschrift Light" panose="020B0502040204020203" pitchFamily="34" charset="0"/>
              </a:rPr>
              <a:t>Fecha de entrega: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latin typeface="Bahnschrift Light" panose="020B0502040204020203" pitchFamily="34" charset="0"/>
              </a:rPr>
              <a:t>Frontera Comalapa, Chiapas. A 14 de Agosto del 2026.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5161B-D57F-C4A9-5B20-1BB3D1FE608D}"/>
              </a:ext>
            </a:extLst>
          </p:cNvPr>
          <p:cNvSpPr txBox="1">
            <a:spLocks/>
          </p:cNvSpPr>
          <p:nvPr/>
        </p:nvSpPr>
        <p:spPr>
          <a:xfrm>
            <a:off x="841584" y="1794954"/>
            <a:ext cx="10508829" cy="3008472"/>
          </a:xfrm>
          <a:prstGeom prst="rect">
            <a:avLst/>
          </a:prstGeom>
        </p:spPr>
        <p:txBody>
          <a:bodyPr numCol="2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alumno: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Cynthia Jasmine Morales Torres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Semestre: 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 err="1">
                <a:latin typeface="Bahnschrift Light" panose="020B0502040204020203" pitchFamily="34" charset="0"/>
              </a:rPr>
              <a:t>Septimo</a:t>
            </a:r>
            <a:r>
              <a:rPr lang="es-MX" sz="1800" b="1" dirty="0">
                <a:latin typeface="Bahnschrift Light" panose="020B0502040204020203" pitchFamily="34" charset="0"/>
              </a:rPr>
              <a:t> semestre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Especialidad: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Ingeniería en sistemas computacionales.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Numero de control: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231260014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Materia: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Gestión de Proyectos TI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docente: 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Ing. Francisco Javier Mingo Velázquez 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trabajo: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Reporte de Practica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EDE26C-FDDA-447D-C867-11122873D7F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2561039" y="80576"/>
            <a:ext cx="7069920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669761D-B759-49DF-1189-70BFC27E67A5}"/>
              </a:ext>
            </a:extLst>
          </p:cNvPr>
          <p:cNvSpPr txBox="1"/>
          <p:nvPr/>
        </p:nvSpPr>
        <p:spPr>
          <a:xfrm>
            <a:off x="3047999" y="1069646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Bahnschrift Light" panose="020B0502040204020203" pitchFamily="34" charset="0"/>
              </a:rPr>
              <a:t>INSTITUTO TECNOLOGICO DE FRONTERA COMALAPA</a:t>
            </a:r>
          </a:p>
        </p:txBody>
      </p:sp>
    </p:spTree>
    <p:extLst>
      <p:ext uri="{BB962C8B-B14F-4D97-AF65-F5344CB8AC3E}">
        <p14:creationId xmlns:p14="http://schemas.microsoft.com/office/powerpoint/2010/main" val="275727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/home/claude/proyecto_pmbok/icons/pmb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870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PRÁCTICA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Elaboración del Formulario de Gestión de Proyectos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base en la Guía del PMBOK® – 7ª Edición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que describe el proceso, la metodología y los fundamentos teóricos aplicados durante la construcción de los formularios de gestión de proyectos.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27432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280160" y="3520440"/>
            <a:ext cx="164592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64008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presente práctica consistió en el diseño y análisis del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Gestión de Proyectos</a:t>
            </a: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instrumento compuesto por cuatro secciones (información general, problema y justificación, objetivos y alcance) que recopila la información necesaria para definir las bases de un proyecto antes de su planificación y ejecución.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0" y="251460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 elaboración se tomó como referencia la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PMBOK® – 7ª Edición</a:t>
            </a: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publicada por el Project Management Institute (PMI), la cual orienta la dirección de proyectos mediante principios y dominios de desempeño en lugar de procesos rígidos, lo que permitió justificar el porqué de cada campo solicitado en el formulario.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572000" y="4480560"/>
            <a:ext cx="704088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46177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este reporte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493776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Explicar, de forma ordenada, cómo se construyó cada formulario y de qué manera los principios y dominios de desempeño del PMBOK® guiaron las decisiones tomadas durante el proceso.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apoyarse en la Guía del PMBOK® para llenar el formulario?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97480" cy="4343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royecto_pmbok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066" y="233400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reconocido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PMBOK® es el estándar de referencia del PMI, aceptado mundialmente para dirigir proyectos de cualquier tipo o tamaño.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2697480" cy="4343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41198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royecto_pmbo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146" y="233400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improvisación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7588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una estructura de principios que evita omitir información clave al iniciar un proyecto, como el problema, la justificación o el alcance.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1691640"/>
            <a:ext cx="2697480" cy="4343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33806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royecto_pmbok/icons/usu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26" y="233400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interesados y valor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0196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a identificar desde el inicio a los beneficiarios y el valor que el proyecto debe entregar, evitando esfuerzos sin propósito claro.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26880" y="1691640"/>
            <a:ext cx="2697480" cy="4343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6414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royecto_pmbok/icons/verific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06" y="2334006"/>
            <a:ext cx="452628" cy="4526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9147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 verificación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52804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contrastar cada sección del formulario contra criterios objetivos (claridad, viabilidad, coherencia) antes de avanzar a la planificación.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del trabajo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seguidos para completar el Formulario de Gestión de Proyectos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1956816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4148" y="265176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0" descr="/home/claude/proyecto_pmbok/icons/engrana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53" y="280606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5661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formulario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4160520"/>
            <a:ext cx="16276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analizó la estructura vacía del formulario (4 secciones) para entender qué información solicitaba cada una.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532888" y="402336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825496" y="1965960"/>
            <a:ext cx="1956816" cy="4114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2962656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461004" y="26517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proyecto_pmbok/icons/pmb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309" y="280606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62656" y="35661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la Guía PMBOK®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990088" y="4160520"/>
            <a:ext cx="16276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revisaron los principios de dirección de proyectos y los dominios de desempeño relacionados con el inicio de un proyecto.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4809744" y="402336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102352" y="1965960"/>
            <a:ext cx="1956816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5239512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737860" y="265176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2" name="Image 2" descr="/home/claude/proyecto_pmbok/icons/fir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165" y="2806065"/>
            <a:ext cx="377190" cy="3771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9512" y="35661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teoría–formulario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66944" y="4160520"/>
            <a:ext cx="16276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identificó qué principio o dominio respaldaba cada campo: acta de constitución, interesados, valor, alcance, etc.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7086600" y="402336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7379208" y="1965960"/>
            <a:ext cx="1956816" cy="4114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2"/>
          <p:cNvSpPr/>
          <p:nvPr/>
        </p:nvSpPr>
        <p:spPr>
          <a:xfrm>
            <a:off x="7516368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8014716" y="26517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home/claude/proyecto_pmbok/icons/aler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021" y="2806065"/>
            <a:ext cx="377190" cy="37719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16368" y="35661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del contenido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543800" y="4160520"/>
            <a:ext cx="16276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relación clara, se completó cada campo del formulario de manera fundamentada y no improvisada.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9363456" y="4023360"/>
            <a:ext cx="26517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9656064" y="1965960"/>
            <a:ext cx="1956816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28"/>
          <p:cNvSpPr/>
          <p:nvPr/>
        </p:nvSpPr>
        <p:spPr>
          <a:xfrm>
            <a:off x="9793224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10291572" y="265176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6" name="Image 4" descr="/home/claude/proyecto_pmbok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77" y="2806065"/>
            <a:ext cx="377190" cy="37719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93224" y="35661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final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9820656" y="4160520"/>
            <a:ext cx="16276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contrastaron los objetivos y el alcance definidos contra los criterios de verificación propuestos por el propio formulario.</a:t>
            </a:r>
            <a:endParaRPr lang="en-US" sz="1030" dirty="0"/>
          </a:p>
        </p:txBody>
      </p:sp>
      <p:sp>
        <p:nvSpPr>
          <p:cNvPr id="40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formulario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formularios, una sola línea base de proyecto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9202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yecto_pmbok/icons/info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773" y="211569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General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485900" y="402336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1605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proyecto, equipo y tipo de proyecto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rot="5400000">
            <a:off x="3182112" y="3712464"/>
            <a:ext cx="201168" cy="256032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2" name="Shape 9"/>
          <p:cNvSpPr/>
          <p:nvPr/>
        </p:nvSpPr>
        <p:spPr>
          <a:xfrm>
            <a:off x="3410712" y="1600200"/>
            <a:ext cx="260604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79392" y="19202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royecto_pmbok/icons/proble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845" y="2115693"/>
            <a:ext cx="477774" cy="4777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2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47872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Justificación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4347972" y="402336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93592" y="41605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actual, causas, consecuencias y beneficios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 rot="5400000">
            <a:off x="6044184" y="3712464"/>
            <a:ext cx="201168" cy="256032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272784" y="1600200"/>
            <a:ext cx="260604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141464" y="19202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proyecto_pmbok/icons/objeti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917" y="2115693"/>
            <a:ext cx="477774" cy="4777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9944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3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9944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7210044" y="402336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55664" y="41605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general, específicos y su verificación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 rot="5400000">
            <a:off x="8906256" y="3712464"/>
            <a:ext cx="201168" cy="256032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8" name="Shape 23"/>
          <p:cNvSpPr/>
          <p:nvPr/>
        </p:nvSpPr>
        <p:spPr>
          <a:xfrm>
            <a:off x="9134856" y="1600200"/>
            <a:ext cx="260604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10003536" y="19202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3" descr="/home/claude/proyecto_pmbok/icons/alc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989" y="2115693"/>
            <a:ext cx="477774" cy="47777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72016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4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272016" y="3291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1550" dirty="0"/>
          </a:p>
        </p:txBody>
      </p:sp>
      <p:sp>
        <p:nvSpPr>
          <p:cNvPr id="33" name="Shape 27"/>
          <p:cNvSpPr/>
          <p:nvPr/>
        </p:nvSpPr>
        <p:spPr>
          <a:xfrm>
            <a:off x="10072116" y="402336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317736" y="41605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incluidos, límites, restricciones y resultado final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/home/claude/proyecto_pmbok/icons/info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5948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760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General del Proyecto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10424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Identificación, descripción y tipo de proyecto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074920" cy="4572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Guía del PMBOK®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617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equivale, en esencia, al propósito del Acta de Constitución del Proyecto (Project Charter): dejar registro formal de qué es el proyecto, quién lo autoriza o dirige y a quién beneficia, antes de invertir esfuerzo en planificarlo. Se relaciona directamente con el dominio de desempeño de Interesados, ya que exige nombrar al responsable y a los integrantes del equipo desde el inicio.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9788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trabajó esta sección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43230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677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definió el nombre y la institución para dar identidad clara al proyecto.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7880" y="3300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1363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listó al responsable y al equipo, aplicando el principio de 'Enfocarse en las personas'.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0" y="41696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40050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describió el propósito, el público objetivo y el lugar de implementación en lenguaje sencillo y verificable.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97880" y="50383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8737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seleccionó el tipo de proyecto para orientar el enfoque de desarrollo más adecuado.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/home/claude/proyecto_pmbok/icons/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5948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760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Justificación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10424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actual, causas, consecuencias y beneficios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074920" cy="4572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Guía del PMBOK®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617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formulario responde al principio de 'Enfocarse en el valor': antes de proponer una solución, se documenta la situación actual, el problema central y sus causas y consecuencias. Es el equivalente práctico al Caso de Negocio (Business Case) que sustenta la creación de valor descrita en el Sistema para la Entrega de Valor del Estándar para la Dirección de Proyectos.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9788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trabajó esta sección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43230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677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describió la situación actual para contrastarla luego con el resultado esperado.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7880" y="3300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1363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causas y consecuencias en una tabla, evitando confundir el problema con sus síntomas.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0" y="41696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40050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justificación se redactó respondiendo por qué y para qué, ligando el proyecto a una necesidad real.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97880" y="50383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8737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diferenciaron beneficiarios directos e indirectos, ampliando la visión de interesados del proyecto.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/home/claude/proyecto_pmbok/icons/objetiv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5948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760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10424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general, específicos y su verificación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074920" cy="4572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Guía del PMBOK®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617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de objetivos se apoya en el dominio de desempeño de Planificación, que exige que las metas sean claras, medibles y alcanzables antes de iniciar el trabajo. El propio formulario incorpora una tabla de verificación, coherente con el principio de PMBOK® de 'Navegar en la complejidad' mediante revisión constante de lo planificado.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9788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trabajó esta sección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43230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677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general se redactó de forma medible, evitando frases ambiguas o demasiado amplias.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7880" y="3300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1363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objetivos específicos se plantearon como acciones concretas que conducen al objetivo general.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0" y="41696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40050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completó la tabla de verificación para confirmar claridad, relación con el problema y viabilidad.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97880" y="50383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8737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esperados se redactaron de manera comprobable, no solo aspiracional.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/home/claude/proyecto_pmbok/icons/alc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5948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760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10424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incluidos, límites, restricciones y resultado final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074920" cy="4572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Guía del PMBOK®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617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aplica de forma directa la gestión del alcance descrita en la Guía del PMBOK®, así como el dominio de desempeño de Entrega: establece qué incluye el proyecto, qué queda fuera y qué limitaciones existen (tiempo, presupuesto, recursos, tecnología). Definir el 'fuera de alcance' evita la ampliación no controlada del proyecto (scope creep).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9788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trabajó esta sección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43230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677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las funciones o características principales que tendrá el producto o servicio final.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7880" y="3300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1363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documentó explícitamente qué NO incluye el proyecto, delimitando expectativas desde el inicio.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0" y="41696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40050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registraron limitaciones de tiempo, presupuesto, recursos y tecnología de forma realista.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97880" y="50383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8737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describió el resultado final esperado para poder verificar el cierre exitoso del proyecto.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del PMBOK® aplicados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12 principios de la dirección de proyectos, estos guiaron con más fuerza el trabajo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74320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royecto_pmbok/icons/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" y="200825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las personas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Responsable, equipo e interesados definidos desde el Formulario 1.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royecto_pmbo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291" y="20082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el valor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80560" y="2560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sus beneficios sustentan el valor que el proyecto debe generar.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royecto_pmbok/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331" y="200825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en la complejidad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0" y="2560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causas/consecuencias ordena un problema con múltiples factores.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royecto_pmbok/icons/verific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51" y="433997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8920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verificación de objetivos asegura claridad y viabilidad antes de avanzar.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297680" y="402336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056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proyecto_pmbok/icons/aler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291" y="4339971"/>
            <a:ext cx="326898" cy="3268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80560" y="48920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limitaciones del alcance anticipan restricciones que podrían afectar al proyecto.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8046720" y="4023360"/>
            <a:ext cx="361188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Shape 24"/>
          <p:cNvSpPr/>
          <p:nvPr/>
        </p:nvSpPr>
        <p:spPr>
          <a:xfrm>
            <a:off x="822960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proyecto_pmbok/icons/engranaj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331" y="4339971"/>
            <a:ext cx="326898" cy="32689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y capacidad de recuperación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29600" y="48920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se adapta a distintos tipos de proyecto (tecnológico, social, educativo, etc.).</a:t>
            </a:r>
            <a:endParaRPr lang="en-US" sz="103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Dominios de desempeño relacionados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formularios trabajados se enlazan principalmente con estos dominios de desempeño del proyecto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yecto_pmbok/icons/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1899666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1460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1: equipo y responsable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55448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royecto_pmbo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558" y="1899666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51460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74720" y="3063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3: objetivos y verificación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0946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royecto_pmbok/icons/alc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478" y="1899666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51460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63640" y="3063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4: alcance y resultado final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55448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89838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royecto_pmbok/icons/aler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398" y="1899666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25128" y="251460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052560" y="30632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4: limitaciones y restricciones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153162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royecto_pmbok/icons/proble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38" y="4459986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507492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desarrollo y ciclo de vida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5800" y="5623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1: tipo de proyecto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37560" y="411480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432054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royecto_pmbok/icons/engranaj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558" y="4459986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47288" y="507492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proyecto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74720" y="5623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2: causas, consecuencias y necesidad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26480" y="411480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710946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proyecto_pmbok/icons/verific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478" y="4459986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36208" y="507492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263640" y="5623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3: tabla de verificación de objetivos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15400" y="4114800"/>
            <a:ext cx="26060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1"/>
          <p:cNvSpPr/>
          <p:nvPr/>
        </p:nvSpPr>
        <p:spPr>
          <a:xfrm>
            <a:off x="989838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proyecto_pmbok/icons/bala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2398" y="4459986"/>
            <a:ext cx="352044" cy="3520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25128" y="507492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052560" y="5623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1: integrantes y roles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de la práctica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74320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4846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proyecto_pmbok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18356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aprendió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5237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3317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formulario de inicio de proyecto no es solo un trámite: cada campo tiene respaldo en un principio o dominio de desempeño del PMBOK®.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838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2918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problema, causas y consecuencias evita justificaciones superficiales o poco sustentadas.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251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claramente lo que 'no' incluye el alcance es tan importante como definir lo que sí incluye.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1417320"/>
            <a:ext cx="5486400" cy="4846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1" descr="/home/claude/proyecto_pmbok/icons/aler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18" y="183565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encontradas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00800" y="252374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2331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con precisión el problema principal sin confundirlo con sus causas.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00800" y="34838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objetivos específicos verdaderamente medibles y no solo declaraciones de intención.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444398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4251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el alcance sin dejar fuera elementos que el proyecto sí necesitaba cubrir.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91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68680" y="242316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697480"/>
            <a:ext cx="7589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Formulario de Gestión de Proyectos con apoyo de la Guía del PMBOK® permitió comprobar que la etapa inicial de un proyecto no depende de la improvisación, sino de principios y dominios de desempeño que orientan qué información recopilar y por qué.
Cada sección del formulario —información general, problema y justificación, objetivos y alcance— encontró respaldo directo en conceptos como el valor, los interesados, la planificación y la entrega, lo que dio como resultado un documento de inicio de proyecto más sólido, verificable y alineado con un estándar reconocido internacionalmente.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74320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007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 (PMI). (2021). El Estándar para la Dirección de Proyectos y Guía de los Fundamentos para la Dirección de Proyectos (Guía del PMBOK®), 7ª edición. Newtown Square, Pennsylvania: PMI.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1687</Words>
  <Application>Microsoft Office PowerPoint</Application>
  <PresentationFormat>Panorámica</PresentationFormat>
  <Paragraphs>180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Bahnschrift Light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Jasmine Morales</cp:lastModifiedBy>
  <cp:revision>3</cp:revision>
  <dcterms:created xsi:type="dcterms:W3CDTF">2026-09-01T02:06:22Z</dcterms:created>
  <dcterms:modified xsi:type="dcterms:W3CDTF">2026-09-01T02:43:27Z</dcterms:modified>
</cp:coreProperties>
</file>