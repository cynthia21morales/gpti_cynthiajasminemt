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7" r:id="rId3"/>
    <p:sldId id="258" r:id="rId4"/>
    <p:sldId id="25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9">
            <a:extLst>
              <a:ext uri="{FF2B5EF4-FFF2-40B4-BE49-F238E27FC236}">
                <a16:creationId xmlns:a16="http://schemas.microsoft.com/office/drawing/2014/main" id="{14DAD81D-E98F-EF19-0D9B-2C8BCF1A5DB7}"/>
              </a:ext>
            </a:extLst>
          </p:cNvPr>
          <p:cNvSpPr txBox="1"/>
          <p:nvPr/>
        </p:nvSpPr>
        <p:spPr>
          <a:xfrm>
            <a:off x="2402908" y="1880767"/>
            <a:ext cx="7644625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Gestión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Proyectos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TI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/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Septimo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semestre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en Sistemas Computacionales.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alumno: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Cynthia Jasmine Morales Torres / 231260014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docente: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2.1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Reporte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practica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Frontera Comalapa, Chiapas. A 03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septiembre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2026.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84D1527B-AB3F-B000-F60E-F5DA08C83E69}"/>
              </a:ext>
            </a:extLst>
          </p:cNvPr>
          <p:cNvSpPr txBox="1"/>
          <p:nvPr/>
        </p:nvSpPr>
        <p:spPr>
          <a:xfrm>
            <a:off x="2046984" y="997338"/>
            <a:ext cx="8356475" cy="709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 Mixta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BF8EFB04-A8DB-2B03-F464-BF7468A1DD23}"/>
              </a:ext>
            </a:extLst>
          </p:cNvPr>
          <p:cNvGrpSpPr/>
          <p:nvPr/>
        </p:nvGrpSpPr>
        <p:grpSpPr>
          <a:xfrm>
            <a:off x="1118708" y="31119"/>
            <a:ext cx="2709599" cy="1198176"/>
            <a:chOff x="0" y="0"/>
            <a:chExt cx="3073400" cy="1308100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0DDB3EC1-E244-43EE-FF67-0866933551A8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4">
            <a:extLst>
              <a:ext uri="{FF2B5EF4-FFF2-40B4-BE49-F238E27FC236}">
                <a16:creationId xmlns:a16="http://schemas.microsoft.com/office/drawing/2014/main" id="{667E323A-2EB9-9EB0-AB5F-B471E5C38ADF}"/>
              </a:ext>
            </a:extLst>
          </p:cNvPr>
          <p:cNvGrpSpPr/>
          <p:nvPr/>
        </p:nvGrpSpPr>
        <p:grpSpPr>
          <a:xfrm>
            <a:off x="9459465" y="106714"/>
            <a:ext cx="1872270" cy="1245240"/>
            <a:chOff x="0" y="0"/>
            <a:chExt cx="1981200" cy="1625600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DD0376BF-B4D7-D038-4746-1364025BB03A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6">
            <a:extLst>
              <a:ext uri="{FF2B5EF4-FFF2-40B4-BE49-F238E27FC236}">
                <a16:creationId xmlns:a16="http://schemas.microsoft.com/office/drawing/2014/main" id="{9DAEC26A-3627-62F9-3C97-CC4891889697}"/>
              </a:ext>
            </a:extLst>
          </p:cNvPr>
          <p:cNvGrpSpPr/>
          <p:nvPr/>
        </p:nvGrpSpPr>
        <p:grpSpPr>
          <a:xfrm>
            <a:off x="4609388" y="269788"/>
            <a:ext cx="3812814" cy="709234"/>
            <a:chOff x="0" y="0"/>
            <a:chExt cx="4343400" cy="901700"/>
          </a:xfrm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9C0A6947-8DF6-B348-975C-9F8634335F23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932975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7265B"/>
                </a:solidFill>
                <a:latin typeface="Aptos"/>
              </a:rPr>
              <a:t>Introducción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292608"/>
            <a:ext cx="685800" cy="438912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44200" y="3474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039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96178"/>
                </a:solidFill>
                <a:latin typeface="Aptos"/>
              </a:rPr>
              <a:t>La planificación permite convertir los objetivos de un proyecto en actividades, tiempos y recursos organizados.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492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49240" cy="475488"/>
          </a:xfrm>
          <a:prstGeom prst="roundRect">
            <a:avLst/>
          </a:prstGeom>
          <a:solidFill>
            <a:srgbClr val="D5C1F4"/>
          </a:solidFill>
          <a:ln>
            <a:solidFill>
              <a:srgbClr val="D5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508760"/>
            <a:ext cx="50200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7265B"/>
                </a:solidFill>
                <a:latin typeface="Aptos"/>
              </a:rPr>
              <a:t>Propósito del reporte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39112"/>
            <a:ext cx="49834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302646"/>
                </a:solidFill>
                <a:latin typeface="Aptos"/>
              </a:rPr>
              <a:t>• Presentar un cronograma de trabajo para cada uno de los tres proyectos proporcionados.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542032"/>
            <a:ext cx="49834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302646"/>
                </a:solidFill>
                <a:latin typeface="Aptos"/>
              </a:rPr>
              <a:t>• Relacionar los objetivos y el alcance con actividades concretas de planificación.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044952"/>
            <a:ext cx="49834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302646"/>
                </a:solidFill>
                <a:latin typeface="Aptos"/>
              </a:rPr>
              <a:t>• Mostrar una distribución temporal mediante un esquema tipo Gantt.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547872"/>
            <a:ext cx="49834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302646"/>
                </a:solidFill>
                <a:latin typeface="Aptos"/>
              </a:rPr>
              <a:t>• Considerar de forma general recursos y costos como elementos de control.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3492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49240" cy="475488"/>
          </a:xfrm>
          <a:prstGeom prst="roundRect">
            <a:avLst/>
          </a:prstGeom>
          <a:solidFill>
            <a:srgbClr val="EBB4CF"/>
          </a:solidFill>
          <a:ln>
            <a:solidFill>
              <a:srgbClr val="EBB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508760"/>
            <a:ext cx="50200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7265B"/>
                </a:solidFill>
                <a:latin typeface="Aptos"/>
              </a:rPr>
              <a:t>Base de los proyectos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39112"/>
            <a:ext cx="49834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302646"/>
                </a:solidFill>
                <a:latin typeface="Aptos"/>
              </a:rPr>
              <a:t>• Banco: simulación de llegada, filas y atención en ventanillas.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42032"/>
            <a:ext cx="49834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302646"/>
                </a:solidFill>
                <a:latin typeface="Aptos"/>
              </a:rPr>
              <a:t>• Corona / Grupo Modelo: simulación de producción, inventario, ventas y distribución.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44952"/>
            <a:ext cx="49834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302646"/>
                </a:solidFill>
                <a:latin typeface="Aptos"/>
              </a:rPr>
              <a:t>• Fábrica: simulación de procesos y análisis de variables que pueden afectar la producción.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96178"/>
                </a:solidFill>
                <a:latin typeface="Aptos"/>
              </a:rPr>
              <a:t>Gestión de Proyectos TI • Planificación de proyectos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7265B"/>
                </a:solidFill>
                <a:latin typeface="Aptos"/>
              </a:rPr>
              <a:t>Justificación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292608"/>
            <a:ext cx="685800" cy="438912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44200" y="3474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039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96178"/>
                </a:solidFill>
                <a:latin typeface="Aptos"/>
              </a:rPr>
              <a:t>Los cronogramas ayudan a visualizar la secuencia de actividades y a controlar el avance.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349240" cy="475488"/>
          </a:xfrm>
          <a:prstGeom prst="roundRect">
            <a:avLst/>
          </a:prstGeom>
          <a:solidFill>
            <a:srgbClr val="D5C1F4"/>
          </a:solidFill>
          <a:ln>
            <a:solidFill>
              <a:srgbClr val="D5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508760"/>
            <a:ext cx="50200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7265B"/>
                </a:solidFill>
                <a:latin typeface="Aptos"/>
              </a:rPr>
              <a:t>¿Por qué planificar?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39112"/>
            <a:ext cx="49834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302646"/>
                </a:solidFill>
                <a:latin typeface="Aptos"/>
              </a:rPr>
              <a:t>• Permite definir qué actividades deben realizarse y en qué orden.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542032"/>
            <a:ext cx="49834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302646"/>
                </a:solidFill>
                <a:latin typeface="Aptos"/>
              </a:rPr>
              <a:t>• Ayuda a distribuir el trabajo entre las etapas de análisis, diseño, desarrollo y pruebas.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044952"/>
            <a:ext cx="49834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302646"/>
                </a:solidFill>
                <a:latin typeface="Aptos"/>
              </a:rPr>
              <a:t>• Facilita detectar retrasos y ajustar actividades antes de afectar el resultado final.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547872"/>
            <a:ext cx="49834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302646"/>
                </a:solidFill>
                <a:latin typeface="Aptos"/>
              </a:rPr>
              <a:t>• Permite relacionar el tiempo de trabajo con los recursos disponibles.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49240" cy="475488"/>
          </a:xfrm>
          <a:prstGeom prst="roundRect">
            <a:avLst/>
          </a:prstGeom>
          <a:solidFill>
            <a:srgbClr val="ADC6E8"/>
          </a:solidFill>
          <a:ln>
            <a:solidFill>
              <a:srgbClr val="AD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508760"/>
            <a:ext cx="50200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7265B"/>
                </a:solidFill>
                <a:latin typeface="Aptos"/>
              </a:rPr>
              <a:t>Criterio utilizado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39112"/>
            <a:ext cx="49834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302646"/>
                </a:solidFill>
                <a:latin typeface="Aptos"/>
              </a:rPr>
              <a:t>• Las fechas de los documentos se conservan cuando fueron proporcionadas.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42032"/>
            <a:ext cx="49834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302646"/>
                </a:solidFill>
                <a:latin typeface="Aptos"/>
              </a:rPr>
              <a:t>• Cuando no había fechas, se propuso un calendario académico hipotético.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44952"/>
            <a:ext cx="49834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302646"/>
                </a:solidFill>
                <a:latin typeface="Aptos"/>
              </a:rPr>
              <a:t>• Los costos se manejan como rubros de control, sin inventar cantidades monetarias.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47872"/>
            <a:ext cx="49834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302646"/>
                </a:solidFill>
                <a:latin typeface="Aptos"/>
              </a:rPr>
              <a:t>• El cronograma es una propuesta de planificación y puede ajustarse al avance real.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96178"/>
                </a:solidFill>
                <a:latin typeface="Aptos"/>
              </a:rPr>
              <a:t>Gestión de Proyectos TI • Planificación de proyectos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502920"/>
            <a:ext cx="10972800" cy="1143000"/>
          </a:xfrm>
          <a:prstGeom prst="roundRect">
            <a:avLst/>
          </a:prstGeom>
          <a:solidFill>
            <a:srgbClr val="D5C1F4"/>
          </a:solidFill>
          <a:ln>
            <a:solidFill>
              <a:srgbClr val="D5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37265B"/>
                </a:solidFill>
                <a:latin typeface="Aptos"/>
              </a:rPr>
              <a:t>Cronogramas de proyectos 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302646"/>
                </a:solidFill>
                <a:latin typeface="Aptos"/>
              </a:rPr>
              <a:t>Reporte de planificación basado en los formularios de gestión de proyectos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3429000" cy="438912"/>
          </a:xfrm>
          <a:prstGeom prst="roundRect">
            <a:avLst/>
          </a:prstGeom>
          <a:solidFill>
            <a:srgbClr val="EBB4CF"/>
          </a:solidFill>
          <a:ln>
            <a:solidFill>
              <a:srgbClr val="EBB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2286000"/>
            <a:ext cx="3090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7265B"/>
                </a:solidFill>
                <a:latin typeface="Aptos"/>
              </a:rPr>
              <a:t>Banco Bansiso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16352"/>
            <a:ext cx="29718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302646"/>
                </a:solidFill>
                <a:latin typeface="Aptos"/>
              </a:rPr>
              <a:t>Simulación del proceso de atención de un banco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5B3F91"/>
                </a:solidFill>
                <a:latin typeface="Aptos"/>
              </a:rPr>
              <a:t>Cronograma tipo Gantt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80560" y="2148840"/>
            <a:ext cx="3429000" cy="438912"/>
          </a:xfrm>
          <a:prstGeom prst="roundRect">
            <a:avLst/>
          </a:prstGeom>
          <a:solidFill>
            <a:srgbClr val="D5C1F4"/>
          </a:solidFill>
          <a:ln>
            <a:solidFill>
              <a:srgbClr val="D5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2286000"/>
            <a:ext cx="3090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7265B"/>
                </a:solidFill>
                <a:latin typeface="Aptos"/>
              </a:rPr>
              <a:t>Grupo Modelo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816352"/>
            <a:ext cx="29718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302646"/>
                </a:solidFill>
                <a:latin typeface="Aptos"/>
              </a:rPr>
              <a:t>Simulación del proceso operativo y comercial de la empresa Corona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886200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5B3F91"/>
                </a:solidFill>
                <a:latin typeface="Aptos"/>
              </a:rPr>
              <a:t>Cronograma tipo Gantt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148840"/>
            <a:ext cx="34290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75320" y="2148840"/>
            <a:ext cx="3429000" cy="438912"/>
          </a:xfrm>
          <a:prstGeom prst="roundRect">
            <a:avLst/>
          </a:prstGeom>
          <a:solidFill>
            <a:srgbClr val="ADC6E8"/>
          </a:solidFill>
          <a:ln>
            <a:solidFill>
              <a:srgbClr val="AD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9912" y="2286000"/>
            <a:ext cx="3090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7265B"/>
                </a:solidFill>
                <a:latin typeface="Aptos"/>
              </a:rPr>
              <a:t>Fábrica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816352"/>
            <a:ext cx="29718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302646"/>
                </a:solidFill>
                <a:latin typeface="Aptos"/>
              </a:rPr>
              <a:t>Simulación de procesos de una fábrica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2971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5B3F91"/>
                </a:solidFill>
                <a:latin typeface="Aptos"/>
              </a:rPr>
              <a:t>Cronograma tipo Gantt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74920"/>
            <a:ext cx="10561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96178"/>
                </a:solidFill>
                <a:latin typeface="Aptos"/>
              </a:rPr>
              <a:t>Tema: 3. Planificación de proyectos • 3.1 Objetivos y alcance • 3.2 Cronogramas, recursos y costos • 3.3 Gantt y WBS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9788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96178"/>
                </a:solidFill>
                <a:latin typeface="Aptos"/>
              </a:rPr>
              <a:t>Proyecto académico — fechas y cargas de trabajo propuestas con fines de planificación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7265B"/>
                </a:solidFill>
                <a:latin typeface="Aptos"/>
              </a:rPr>
              <a:t>Proyecto 1 — Simulación del proceso de atención de un banco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292608"/>
            <a:ext cx="685800" cy="438912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44200" y="3474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039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96178"/>
                </a:solidFill>
                <a:latin typeface="Aptos"/>
              </a:rPr>
              <a:t>Banco Bansiso • Área: Atención a clientes • Responsable indicado: Jhony Gomez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302646"/>
                </a:solidFill>
                <a:latin typeface="Aptos"/>
              </a:rPr>
              <a:t>Objetivo de planificación: desarrollar una simulación que represente llegada de clientes, formación de filas y atención en ventanillas.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2880360" cy="50292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892807"/>
            <a:ext cx="26609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Actividad / fase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83080"/>
            <a:ext cx="1600200" cy="50292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892807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93208" y="1783080"/>
            <a:ext cx="1600200" cy="50292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93208" y="1892807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11696" y="1783080"/>
            <a:ext cx="1600200" cy="50292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11696" y="1892807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0183" y="1783080"/>
            <a:ext cx="1600200" cy="50292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0183" y="1892807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48672" y="1783080"/>
            <a:ext cx="1600200" cy="50292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48672" y="1892807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286000"/>
            <a:ext cx="2880360" cy="46634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" y="2377440"/>
            <a:ext cx="2660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2646"/>
                </a:solidFill>
                <a:latin typeface="Aptos"/>
              </a:rPr>
              <a:t>Definir objetivos y alcance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2286000"/>
            <a:ext cx="1600200" cy="46634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093208" y="2286000"/>
            <a:ext cx="1600200" cy="46634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711696" y="2286000"/>
            <a:ext cx="1600200" cy="46634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330183" y="2286000"/>
            <a:ext cx="1600200" cy="46634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948672" y="2286000"/>
            <a:ext cx="1600200" cy="46634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529584" y="2368296"/>
            <a:ext cx="1490472" cy="301752"/>
          </a:xfrm>
          <a:prstGeom prst="roundRect">
            <a:avLst/>
          </a:prstGeom>
          <a:solidFill>
            <a:srgbClr val="D5C1F4"/>
          </a:solidFill>
          <a:ln>
            <a:solidFill>
              <a:srgbClr val="D5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94360" y="2779776"/>
            <a:ext cx="2880360" cy="466344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4088" y="2871216"/>
            <a:ext cx="2660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2646"/>
                </a:solidFill>
                <a:latin typeface="Aptos"/>
              </a:rPr>
              <a:t>Analizar proceso del banco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2779776"/>
            <a:ext cx="1600200" cy="466344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093208" y="2779776"/>
            <a:ext cx="1600200" cy="466344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711696" y="2779776"/>
            <a:ext cx="1600200" cy="466344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330183" y="2779776"/>
            <a:ext cx="1600200" cy="466344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948672" y="2779776"/>
            <a:ext cx="1600200" cy="466344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529584" y="2862072"/>
            <a:ext cx="1490472" cy="301752"/>
          </a:xfrm>
          <a:prstGeom prst="roundRect">
            <a:avLst/>
          </a:prstGeom>
          <a:solidFill>
            <a:srgbClr val="EBB4CF"/>
          </a:solidFill>
          <a:ln>
            <a:solidFill>
              <a:srgbClr val="EBB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148072" y="2862072"/>
            <a:ext cx="1490472" cy="301752"/>
          </a:xfrm>
          <a:prstGeom prst="roundRect">
            <a:avLst/>
          </a:prstGeom>
          <a:solidFill>
            <a:srgbClr val="EBB4CF"/>
          </a:solidFill>
          <a:ln>
            <a:solidFill>
              <a:srgbClr val="EBB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94360" y="3273552"/>
            <a:ext cx="2880360" cy="46634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4088" y="3364992"/>
            <a:ext cx="2660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2646"/>
                </a:solidFill>
                <a:latin typeface="Aptos"/>
              </a:rPr>
              <a:t>Diseñar modelo y datos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74720" y="3273552"/>
            <a:ext cx="1600200" cy="46634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5093208" y="3273552"/>
            <a:ext cx="1600200" cy="46634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711696" y="3273552"/>
            <a:ext cx="1600200" cy="46634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330183" y="3273552"/>
            <a:ext cx="1600200" cy="46634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948672" y="3273552"/>
            <a:ext cx="1600200" cy="46634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148072" y="3355848"/>
            <a:ext cx="1490472" cy="301752"/>
          </a:xfrm>
          <a:prstGeom prst="roundRect">
            <a:avLst/>
          </a:prstGeom>
          <a:solidFill>
            <a:srgbClr val="ADC6E8"/>
          </a:solidFill>
          <a:ln>
            <a:solidFill>
              <a:srgbClr val="AD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766559" y="3355848"/>
            <a:ext cx="1490472" cy="301752"/>
          </a:xfrm>
          <a:prstGeom prst="roundRect">
            <a:avLst/>
          </a:prstGeom>
          <a:solidFill>
            <a:srgbClr val="ADC6E8"/>
          </a:solidFill>
          <a:ln>
            <a:solidFill>
              <a:srgbClr val="AD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594360" y="3767328"/>
            <a:ext cx="2880360" cy="466344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4088" y="3858768"/>
            <a:ext cx="2660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2646"/>
                </a:solidFill>
                <a:latin typeface="Aptos"/>
              </a:rPr>
              <a:t>Programar simulación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74720" y="3767328"/>
            <a:ext cx="1600200" cy="466344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5093208" y="3767328"/>
            <a:ext cx="1600200" cy="466344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711696" y="3767328"/>
            <a:ext cx="1600200" cy="466344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330183" y="3767328"/>
            <a:ext cx="1600200" cy="466344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948672" y="3767328"/>
            <a:ext cx="1600200" cy="466344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766559" y="3849624"/>
            <a:ext cx="1490472" cy="301752"/>
          </a:xfrm>
          <a:prstGeom prst="roundRect">
            <a:avLst/>
          </a:prstGeom>
          <a:solidFill>
            <a:srgbClr val="D5C1F4"/>
          </a:solidFill>
          <a:ln>
            <a:solidFill>
              <a:srgbClr val="D5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8385048" y="3849624"/>
            <a:ext cx="1490472" cy="301752"/>
          </a:xfrm>
          <a:prstGeom prst="roundRect">
            <a:avLst/>
          </a:prstGeom>
          <a:solidFill>
            <a:srgbClr val="D5C1F4"/>
          </a:solidFill>
          <a:ln>
            <a:solidFill>
              <a:srgbClr val="D5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594360" y="4261104"/>
            <a:ext cx="2880360" cy="46634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04088" y="4352544"/>
            <a:ext cx="2660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2646"/>
                </a:solidFill>
                <a:latin typeface="Aptos"/>
              </a:rPr>
              <a:t>Pruebas y ajustes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474720" y="4261104"/>
            <a:ext cx="1600200" cy="46634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5093208" y="4261104"/>
            <a:ext cx="1600200" cy="46634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6711696" y="4261104"/>
            <a:ext cx="1600200" cy="46634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8330183" y="4261104"/>
            <a:ext cx="1600200" cy="46634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9948672" y="4261104"/>
            <a:ext cx="1600200" cy="46634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8385048" y="4343400"/>
            <a:ext cx="1490472" cy="301752"/>
          </a:xfrm>
          <a:prstGeom prst="roundRect">
            <a:avLst/>
          </a:prstGeom>
          <a:solidFill>
            <a:srgbClr val="9DCAB1"/>
          </a:solidFill>
          <a:ln>
            <a:solidFill>
              <a:srgbClr val="9DC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10003536" y="4343400"/>
            <a:ext cx="1490472" cy="301752"/>
          </a:xfrm>
          <a:prstGeom prst="roundRect">
            <a:avLst/>
          </a:prstGeom>
          <a:solidFill>
            <a:srgbClr val="9DCAB1"/>
          </a:solidFill>
          <a:ln>
            <a:solidFill>
              <a:srgbClr val="9DC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594360" y="4754880"/>
            <a:ext cx="2880360" cy="466344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04088" y="4846320"/>
            <a:ext cx="2660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2646"/>
                </a:solidFill>
                <a:latin typeface="Aptos"/>
              </a:rPr>
              <a:t>Documentación y presentación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474720" y="4754880"/>
            <a:ext cx="1600200" cy="466344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5093208" y="4754880"/>
            <a:ext cx="1600200" cy="466344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6711696" y="4754880"/>
            <a:ext cx="1600200" cy="466344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8330183" y="4754880"/>
            <a:ext cx="1600200" cy="466344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9948672" y="4754880"/>
            <a:ext cx="1600200" cy="466344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10003536" y="4837176"/>
            <a:ext cx="1490472" cy="301752"/>
          </a:xfrm>
          <a:prstGeom prst="roundRect">
            <a:avLst/>
          </a:prstGeom>
          <a:solidFill>
            <a:srgbClr val="EBB4CF"/>
          </a:solidFill>
          <a:ln>
            <a:solidFill>
              <a:srgbClr val="EBB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85800" y="5257800"/>
            <a:ext cx="50292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 err="1">
                <a:solidFill>
                  <a:srgbClr val="5B3F91"/>
                </a:solidFill>
                <a:latin typeface="Aptos"/>
              </a:rPr>
              <a:t>Fechas</a:t>
            </a:r>
            <a:r>
              <a:rPr sz="1100" b="1" dirty="0">
                <a:solidFill>
                  <a:srgbClr val="5B3F91"/>
                </a:solidFill>
                <a:latin typeface="Aptos"/>
              </a:rPr>
              <a:t>: 7 de </a:t>
            </a:r>
            <a:r>
              <a:rPr sz="1100" b="1" dirty="0" err="1">
                <a:solidFill>
                  <a:srgbClr val="5B3F91"/>
                </a:solidFill>
                <a:latin typeface="Aptos"/>
              </a:rPr>
              <a:t>septiembre</a:t>
            </a:r>
            <a:r>
              <a:rPr sz="1100" b="1" dirty="0">
                <a:solidFill>
                  <a:srgbClr val="5B3F91"/>
                </a:solidFill>
                <a:latin typeface="Aptos"/>
              </a:rPr>
              <a:t> – 11 de </a:t>
            </a:r>
            <a:r>
              <a:rPr sz="1100" b="1" dirty="0" err="1">
                <a:solidFill>
                  <a:srgbClr val="5B3F91"/>
                </a:solidFill>
                <a:latin typeface="Aptos"/>
              </a:rPr>
              <a:t>octubre</a:t>
            </a:r>
            <a:r>
              <a:rPr sz="1100" b="1" dirty="0">
                <a:solidFill>
                  <a:srgbClr val="5B3F91"/>
                </a:solidFill>
                <a:latin typeface="Aptos"/>
              </a:rPr>
              <a:t> de 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" y="562356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2646"/>
                </a:solidFill>
                <a:latin typeface="Aptos"/>
              </a:rPr>
              <a:t>Recursos: equipo de desarrollo, computadora, herramientas de programación y datos simulados.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5925312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2646"/>
                </a:solidFill>
                <a:latin typeface="Aptos"/>
              </a:rPr>
              <a:t>Costos a controlar: software/herramientas, equipo y tiempo de trabajo.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96178"/>
                </a:solidFill>
                <a:latin typeface="Aptos"/>
              </a:rPr>
              <a:t>Gestión de Proyectos TI • Planificación de proyectos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7265B"/>
                </a:solidFill>
                <a:latin typeface="Aptos"/>
              </a:rPr>
              <a:t>Proyecto 1 — WBS resumida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292608"/>
            <a:ext cx="685800" cy="438912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44200" y="3474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039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96178"/>
                </a:solidFill>
                <a:latin typeface="Aptos"/>
              </a:rPr>
              <a:t>Desglose de trabajo para la simulación bancaria.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143000"/>
            <a:ext cx="3794760" cy="64008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06240" y="1307592"/>
            <a:ext cx="3794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Simulación bancaria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31720"/>
            <a:ext cx="1600200" cy="594360"/>
          </a:xfrm>
          <a:prstGeom prst="roundRect">
            <a:avLst/>
          </a:prstGeom>
          <a:solidFill>
            <a:srgbClr val="D5C1F4"/>
          </a:solidFill>
          <a:ln>
            <a:solidFill>
              <a:srgbClr val="D5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487168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37265B"/>
                </a:solidFill>
                <a:latin typeface="Aptos"/>
              </a:rPr>
              <a:t>1. Análisis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531620" y="1783080"/>
            <a:ext cx="4549140" cy="548640"/>
          </a:xfrm>
          <a:prstGeom prst="line">
            <a:avLst/>
          </a:prstGeom>
          <a:ln w="19050">
            <a:solidFill>
              <a:srgbClr val="5B3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17520" y="2331720"/>
            <a:ext cx="1600200" cy="594360"/>
          </a:xfrm>
          <a:prstGeom prst="roundRect">
            <a:avLst/>
          </a:prstGeom>
          <a:solidFill>
            <a:srgbClr val="ADC6E8"/>
          </a:solidFill>
          <a:ln>
            <a:solidFill>
              <a:srgbClr val="AD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0" y="2487168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37265B"/>
                </a:solidFill>
                <a:latin typeface="Aptos"/>
              </a:rPr>
              <a:t>2. Diseño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817620" y="1783080"/>
            <a:ext cx="2263140" cy="548640"/>
          </a:xfrm>
          <a:prstGeom prst="line">
            <a:avLst/>
          </a:prstGeom>
          <a:ln w="19050">
            <a:solidFill>
              <a:srgbClr val="5B3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03520" y="2331720"/>
            <a:ext cx="1600200" cy="594360"/>
          </a:xfrm>
          <a:prstGeom prst="roundRect">
            <a:avLst/>
          </a:prstGeom>
          <a:solidFill>
            <a:srgbClr val="EBB4CF"/>
          </a:solidFill>
          <a:ln>
            <a:solidFill>
              <a:srgbClr val="EBB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0" y="2487168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37265B"/>
                </a:solidFill>
                <a:latin typeface="Aptos"/>
              </a:rPr>
              <a:t>3. Desarrollo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1783080"/>
            <a:ext cx="22860" cy="548640"/>
          </a:xfrm>
          <a:prstGeom prst="line">
            <a:avLst/>
          </a:prstGeom>
          <a:ln w="19050">
            <a:solidFill>
              <a:srgbClr val="5B3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589520" y="2331720"/>
            <a:ext cx="1600200" cy="594360"/>
          </a:xfrm>
          <a:prstGeom prst="roundRect">
            <a:avLst/>
          </a:prstGeom>
          <a:solidFill>
            <a:srgbClr val="9DCAB1"/>
          </a:solidFill>
          <a:ln>
            <a:solidFill>
              <a:srgbClr val="9DC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0" y="2487168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37265B"/>
                </a:solidFill>
                <a:latin typeface="Aptos"/>
              </a:rPr>
              <a:t>4. Pruebas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1783080"/>
            <a:ext cx="2308860" cy="548640"/>
          </a:xfrm>
          <a:prstGeom prst="line">
            <a:avLst/>
          </a:prstGeom>
          <a:ln w="19050">
            <a:solidFill>
              <a:srgbClr val="5B3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875520" y="2331720"/>
            <a:ext cx="1600200" cy="594360"/>
          </a:xfrm>
          <a:prstGeom prst="roundRect">
            <a:avLst/>
          </a:prstGeom>
          <a:solidFill>
            <a:srgbClr val="D5C1F4"/>
          </a:solidFill>
          <a:ln>
            <a:solidFill>
              <a:srgbClr val="D5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0" y="2487168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37265B"/>
                </a:solidFill>
                <a:latin typeface="Aptos"/>
              </a:rPr>
              <a:t>5. Entrega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80760" y="1783080"/>
            <a:ext cx="4594860" cy="548640"/>
          </a:xfrm>
          <a:prstGeom prst="line">
            <a:avLst/>
          </a:prstGeom>
          <a:ln w="19050">
            <a:solidFill>
              <a:srgbClr val="5B3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94360" y="342900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361188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302646"/>
                </a:solidFill>
                <a:latin typeface="Aptos"/>
              </a:rPr>
              <a:t>Requisitos
Alcance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80360" y="342900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71800" y="361188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302646"/>
                </a:solidFill>
                <a:latin typeface="Aptos"/>
              </a:rPr>
              <a:t>Modelo
Flujo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66360" y="342900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57800" y="361188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302646"/>
                </a:solidFill>
                <a:latin typeface="Aptos"/>
              </a:rPr>
              <a:t>Colas
Ventanillas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342900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43800" y="361188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302646"/>
                </a:solidFill>
                <a:latin typeface="Aptos"/>
              </a:rPr>
              <a:t>Validación
Resultados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38360" y="3429000"/>
            <a:ext cx="187451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29800" y="3611880"/>
            <a:ext cx="1691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302646"/>
                </a:solidFill>
                <a:latin typeface="Aptos"/>
              </a:rPr>
              <a:t>Informe
Presentación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89204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7265B"/>
                </a:solidFill>
                <a:latin typeface="Aptos"/>
              </a:rPr>
              <a:t>La WBS divide el proyecto en paquetes de trabajo manejables para facilitar asignación, seguimiento y control.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96178"/>
                </a:solidFill>
                <a:latin typeface="Aptos"/>
              </a:rPr>
              <a:t>Gestión de Proyectos TI • Planificación de proyectos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7265B"/>
                </a:solidFill>
                <a:latin typeface="Aptos"/>
              </a:rPr>
              <a:t>Proyecto 2 — Simulación del proceso operativo y comercial de la empresa Corona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292608"/>
            <a:ext cx="685800" cy="438912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44200" y="3474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50" y="107899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696178"/>
                </a:solidFill>
                <a:latin typeface="Aptos"/>
              </a:rPr>
              <a:t>Grupo </a:t>
            </a:r>
            <a:r>
              <a:rPr sz="1250" b="0" dirty="0" err="1">
                <a:solidFill>
                  <a:srgbClr val="696178"/>
                </a:solidFill>
                <a:latin typeface="Aptos"/>
              </a:rPr>
              <a:t>Modelo</a:t>
            </a:r>
            <a:r>
              <a:rPr sz="1250" b="0" dirty="0">
                <a:solidFill>
                  <a:srgbClr val="696178"/>
                </a:solidFill>
                <a:latin typeface="Aptos"/>
              </a:rPr>
              <a:t>, S.A. de C.V. • </a:t>
            </a:r>
            <a:r>
              <a:rPr sz="1250" b="0" dirty="0" err="1">
                <a:solidFill>
                  <a:srgbClr val="696178"/>
                </a:solidFill>
                <a:latin typeface="Aptos"/>
              </a:rPr>
              <a:t>Área</a:t>
            </a:r>
            <a:r>
              <a:rPr sz="1250" b="0" dirty="0">
                <a:solidFill>
                  <a:srgbClr val="696178"/>
                </a:solidFill>
                <a:latin typeface="Aptos"/>
              </a:rPr>
              <a:t>: </a:t>
            </a:r>
            <a:r>
              <a:rPr sz="1250" b="0" dirty="0" err="1">
                <a:solidFill>
                  <a:srgbClr val="696178"/>
                </a:solidFill>
                <a:latin typeface="Aptos"/>
              </a:rPr>
              <a:t>Producción</a:t>
            </a:r>
            <a:r>
              <a:rPr sz="1250" b="0" dirty="0">
                <a:solidFill>
                  <a:srgbClr val="696178"/>
                </a:solidFill>
                <a:latin typeface="Aptos"/>
              </a:rPr>
              <a:t> • </a:t>
            </a:r>
            <a:r>
              <a:rPr sz="1250" b="0" dirty="0" err="1">
                <a:solidFill>
                  <a:srgbClr val="696178"/>
                </a:solidFill>
                <a:latin typeface="Aptos"/>
              </a:rPr>
              <a:t>Responsable</a:t>
            </a:r>
            <a:r>
              <a:rPr sz="1250" b="0" dirty="0">
                <a:solidFill>
                  <a:srgbClr val="696178"/>
                </a:solidFill>
                <a:latin typeface="Aptos"/>
              </a:rPr>
              <a:t>: Darvin </a:t>
            </a:r>
            <a:r>
              <a:rPr sz="1250" b="0" dirty="0" err="1">
                <a:solidFill>
                  <a:srgbClr val="696178"/>
                </a:solidFill>
                <a:latin typeface="Aptos"/>
              </a:rPr>
              <a:t>Yariel</a:t>
            </a:r>
            <a:r>
              <a:rPr sz="1250" b="0" dirty="0">
                <a:solidFill>
                  <a:srgbClr val="696178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696178"/>
                </a:solidFill>
                <a:latin typeface="Aptos"/>
              </a:rPr>
              <a:t>Roblero</a:t>
            </a:r>
            <a:r>
              <a:rPr sz="1250" b="0" dirty="0">
                <a:solidFill>
                  <a:srgbClr val="696178"/>
                </a:solidFill>
                <a:latin typeface="Aptos"/>
              </a:rPr>
              <a:t> Gonzalez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9304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302646"/>
                </a:solidFill>
                <a:latin typeface="Aptos"/>
              </a:rPr>
              <a:t>El </a:t>
            </a:r>
            <a:r>
              <a:rPr sz="1200" b="0" dirty="0" err="1">
                <a:solidFill>
                  <a:srgbClr val="302646"/>
                </a:solidFill>
                <a:latin typeface="Aptos"/>
              </a:rPr>
              <a:t>formulario</a:t>
            </a:r>
            <a:r>
              <a:rPr sz="1200" b="0" dirty="0">
                <a:solidFill>
                  <a:srgbClr val="302646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302646"/>
                </a:solidFill>
                <a:latin typeface="Aptos"/>
              </a:rPr>
              <a:t>plantea</a:t>
            </a:r>
            <a:r>
              <a:rPr sz="1200" b="0" dirty="0">
                <a:solidFill>
                  <a:srgbClr val="302646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302646"/>
                </a:solidFill>
                <a:latin typeface="Aptos"/>
              </a:rPr>
              <a:t>representar</a:t>
            </a:r>
            <a:r>
              <a:rPr sz="1200" b="0" dirty="0">
                <a:solidFill>
                  <a:srgbClr val="302646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302646"/>
                </a:solidFill>
                <a:latin typeface="Aptos"/>
              </a:rPr>
              <a:t>etapas</a:t>
            </a:r>
            <a:r>
              <a:rPr sz="1200" b="0" dirty="0">
                <a:solidFill>
                  <a:srgbClr val="302646"/>
                </a:solidFill>
                <a:latin typeface="Aptos"/>
              </a:rPr>
              <a:t> de </a:t>
            </a:r>
            <a:r>
              <a:rPr sz="1200" b="0" dirty="0" err="1">
                <a:solidFill>
                  <a:srgbClr val="302646"/>
                </a:solidFill>
                <a:latin typeface="Aptos"/>
              </a:rPr>
              <a:t>producción</a:t>
            </a:r>
            <a:r>
              <a:rPr sz="1200" b="0" dirty="0">
                <a:solidFill>
                  <a:srgbClr val="302646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302646"/>
                </a:solidFill>
                <a:latin typeface="Aptos"/>
              </a:rPr>
              <a:t>inventario</a:t>
            </a:r>
            <a:r>
              <a:rPr sz="1200" b="0" dirty="0">
                <a:solidFill>
                  <a:srgbClr val="302646"/>
                </a:solidFill>
                <a:latin typeface="Aptos"/>
              </a:rPr>
              <a:t>, </a:t>
            </a:r>
            <a:r>
              <a:rPr sz="1200" b="0" dirty="0" err="1">
                <a:solidFill>
                  <a:srgbClr val="302646"/>
                </a:solidFill>
                <a:latin typeface="Aptos"/>
              </a:rPr>
              <a:t>ventas</a:t>
            </a:r>
            <a:r>
              <a:rPr sz="1200" b="0" dirty="0">
                <a:solidFill>
                  <a:srgbClr val="302646"/>
                </a:solidFill>
                <a:latin typeface="Aptos"/>
              </a:rPr>
              <a:t> y </a:t>
            </a:r>
            <a:r>
              <a:rPr sz="1200" b="0" dirty="0" err="1">
                <a:solidFill>
                  <a:srgbClr val="302646"/>
                </a:solidFill>
                <a:latin typeface="Aptos"/>
              </a:rPr>
              <a:t>distribución</a:t>
            </a:r>
            <a:r>
              <a:rPr sz="1200" b="0" dirty="0">
                <a:solidFill>
                  <a:srgbClr val="302646"/>
                </a:solidFill>
                <a:latin typeface="Aptos"/>
              </a:rPr>
              <a:t> y </a:t>
            </a:r>
            <a:r>
              <a:rPr sz="1200" b="0" dirty="0" err="1">
                <a:solidFill>
                  <a:srgbClr val="302646"/>
                </a:solidFill>
                <a:latin typeface="Aptos"/>
              </a:rPr>
              <a:t>permitir</a:t>
            </a:r>
            <a:r>
              <a:rPr sz="1200" b="0" dirty="0">
                <a:solidFill>
                  <a:srgbClr val="302646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302646"/>
                </a:solidFill>
                <a:latin typeface="Aptos"/>
              </a:rPr>
              <a:t>tomar</a:t>
            </a:r>
            <a:r>
              <a:rPr sz="1200" b="0" dirty="0">
                <a:solidFill>
                  <a:srgbClr val="302646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302646"/>
                </a:solidFill>
                <a:latin typeface="Aptos"/>
              </a:rPr>
              <a:t>decisiones</a:t>
            </a:r>
            <a:r>
              <a:rPr sz="1200" b="0" dirty="0">
                <a:solidFill>
                  <a:srgbClr val="302646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302646"/>
                </a:solidFill>
                <a:latin typeface="Aptos"/>
              </a:rPr>
              <a:t>dentro</a:t>
            </a:r>
            <a:r>
              <a:rPr sz="1200" b="0" dirty="0">
                <a:solidFill>
                  <a:srgbClr val="302646"/>
                </a:solidFill>
                <a:latin typeface="Aptos"/>
              </a:rPr>
              <a:t> del </a:t>
            </a:r>
            <a:r>
              <a:rPr sz="1200" b="0" dirty="0" err="1">
                <a:solidFill>
                  <a:srgbClr val="302646"/>
                </a:solidFill>
                <a:latin typeface="Aptos"/>
              </a:rPr>
              <a:t>entorno</a:t>
            </a:r>
            <a:r>
              <a:rPr sz="1200" b="0" dirty="0">
                <a:solidFill>
                  <a:srgbClr val="302646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302646"/>
                </a:solidFill>
                <a:latin typeface="Aptos"/>
              </a:rPr>
              <a:t>simulado</a:t>
            </a:r>
            <a:r>
              <a:rPr sz="1200" b="0" dirty="0">
                <a:solidFill>
                  <a:srgbClr val="302646"/>
                </a:solidFill>
                <a:latin typeface="Apto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2880360" cy="50292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892807"/>
            <a:ext cx="26609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Actividad / fase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83080"/>
            <a:ext cx="1330451" cy="50292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892807"/>
            <a:ext cx="133045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23459" y="1783080"/>
            <a:ext cx="1330451" cy="50292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3459" y="1892807"/>
            <a:ext cx="133045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783080"/>
            <a:ext cx="1330451" cy="50292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1892807"/>
            <a:ext cx="133045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0940" y="1783080"/>
            <a:ext cx="1330451" cy="50292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20940" y="1892807"/>
            <a:ext cx="133045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783080"/>
            <a:ext cx="1330451" cy="50292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0" y="1892807"/>
            <a:ext cx="133045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18419" y="1783080"/>
            <a:ext cx="1330451" cy="50292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18419" y="1892807"/>
            <a:ext cx="133045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S6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286000"/>
            <a:ext cx="2880360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" y="2377440"/>
            <a:ext cx="2660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2646"/>
                </a:solidFill>
                <a:latin typeface="Aptos"/>
              </a:rPr>
              <a:t>Objetivos y alcance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2286000"/>
            <a:ext cx="1330451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823459" y="2286000"/>
            <a:ext cx="1330451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172200" y="2286000"/>
            <a:ext cx="1330451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520940" y="2286000"/>
            <a:ext cx="1330451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869680" y="2286000"/>
            <a:ext cx="1330451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218419" y="2286000"/>
            <a:ext cx="1330451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529584" y="2368296"/>
            <a:ext cx="1220724" cy="246888"/>
          </a:xfrm>
          <a:prstGeom prst="roundRect">
            <a:avLst/>
          </a:prstGeom>
          <a:solidFill>
            <a:srgbClr val="D5C1F4"/>
          </a:solidFill>
          <a:ln>
            <a:solidFill>
              <a:srgbClr val="D5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94360" y="2724912"/>
            <a:ext cx="2880360" cy="411479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4088" y="2816352"/>
            <a:ext cx="2660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2646"/>
                </a:solidFill>
                <a:latin typeface="Aptos"/>
              </a:rPr>
              <a:t>Análisis de procesos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2724912"/>
            <a:ext cx="1330451" cy="411479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823459" y="2724912"/>
            <a:ext cx="1330451" cy="411479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172200" y="2724912"/>
            <a:ext cx="1330451" cy="411479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520940" y="2724912"/>
            <a:ext cx="1330451" cy="411479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869680" y="2724912"/>
            <a:ext cx="1330451" cy="411479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218419" y="2724912"/>
            <a:ext cx="1330451" cy="411479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3529584" y="2807208"/>
            <a:ext cx="1220724" cy="246888"/>
          </a:xfrm>
          <a:prstGeom prst="roundRect">
            <a:avLst/>
          </a:prstGeom>
          <a:solidFill>
            <a:srgbClr val="EBB4CF"/>
          </a:solidFill>
          <a:ln>
            <a:solidFill>
              <a:srgbClr val="EBB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878323" y="2807208"/>
            <a:ext cx="1220724" cy="246888"/>
          </a:xfrm>
          <a:prstGeom prst="roundRect">
            <a:avLst/>
          </a:prstGeom>
          <a:solidFill>
            <a:srgbClr val="EBB4CF"/>
          </a:solidFill>
          <a:ln>
            <a:solidFill>
              <a:srgbClr val="EBB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94360" y="3163824"/>
            <a:ext cx="2880360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4088" y="3255264"/>
            <a:ext cx="2660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2646"/>
                </a:solidFill>
                <a:latin typeface="Aptos"/>
              </a:rPr>
              <a:t>Diseño de simulación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74720" y="3163824"/>
            <a:ext cx="1330451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823459" y="3163824"/>
            <a:ext cx="1330451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172200" y="3163824"/>
            <a:ext cx="1330451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7520940" y="3163824"/>
            <a:ext cx="1330451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869680" y="3163824"/>
            <a:ext cx="1330451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0218419" y="3163824"/>
            <a:ext cx="1330451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878323" y="3246120"/>
            <a:ext cx="1220724" cy="246888"/>
          </a:xfrm>
          <a:prstGeom prst="roundRect">
            <a:avLst/>
          </a:prstGeom>
          <a:solidFill>
            <a:srgbClr val="ADC6E8"/>
          </a:solidFill>
          <a:ln>
            <a:solidFill>
              <a:srgbClr val="AD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227064" y="3246120"/>
            <a:ext cx="1220724" cy="246888"/>
          </a:xfrm>
          <a:prstGeom prst="roundRect">
            <a:avLst/>
          </a:prstGeom>
          <a:solidFill>
            <a:srgbClr val="ADC6E8"/>
          </a:solidFill>
          <a:ln>
            <a:solidFill>
              <a:srgbClr val="AD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594360" y="3602736"/>
            <a:ext cx="2880360" cy="411479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04088" y="3694176"/>
            <a:ext cx="2660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2646"/>
                </a:solidFill>
                <a:latin typeface="Aptos"/>
              </a:rPr>
              <a:t>Producción e inventario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74720" y="3602736"/>
            <a:ext cx="1330451" cy="411479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4823459" y="3602736"/>
            <a:ext cx="1330451" cy="411479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172200" y="3602736"/>
            <a:ext cx="1330451" cy="411479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7520940" y="3602736"/>
            <a:ext cx="1330451" cy="411479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869680" y="3602736"/>
            <a:ext cx="1330451" cy="411479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10218419" y="3602736"/>
            <a:ext cx="1330451" cy="411479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6227064" y="3685032"/>
            <a:ext cx="1220724" cy="246888"/>
          </a:xfrm>
          <a:prstGeom prst="roundRect">
            <a:avLst/>
          </a:prstGeom>
          <a:solidFill>
            <a:srgbClr val="9DCAB1"/>
          </a:solidFill>
          <a:ln>
            <a:solidFill>
              <a:srgbClr val="9DC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7575804" y="3685032"/>
            <a:ext cx="1220724" cy="246888"/>
          </a:xfrm>
          <a:prstGeom prst="roundRect">
            <a:avLst/>
          </a:prstGeom>
          <a:solidFill>
            <a:srgbClr val="9DCAB1"/>
          </a:solidFill>
          <a:ln>
            <a:solidFill>
              <a:srgbClr val="9DC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94360" y="4041648"/>
            <a:ext cx="2880360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04088" y="4133087"/>
            <a:ext cx="2660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2646"/>
                </a:solidFill>
                <a:latin typeface="Aptos"/>
              </a:rPr>
              <a:t>Ventas y distribución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474720" y="4041648"/>
            <a:ext cx="1330451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4823459" y="4041648"/>
            <a:ext cx="1330451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6172200" y="4041648"/>
            <a:ext cx="1330451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7520940" y="4041648"/>
            <a:ext cx="1330451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8869680" y="4041648"/>
            <a:ext cx="1330451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10218419" y="4041648"/>
            <a:ext cx="1330451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7575804" y="4123944"/>
            <a:ext cx="1220724" cy="246888"/>
          </a:xfrm>
          <a:prstGeom prst="roundRect">
            <a:avLst/>
          </a:prstGeom>
          <a:solidFill>
            <a:srgbClr val="EBB4CF"/>
          </a:solidFill>
          <a:ln>
            <a:solidFill>
              <a:srgbClr val="EBB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8924544" y="4123944"/>
            <a:ext cx="1220724" cy="246888"/>
          </a:xfrm>
          <a:prstGeom prst="roundRect">
            <a:avLst/>
          </a:prstGeom>
          <a:solidFill>
            <a:srgbClr val="EBB4CF"/>
          </a:solidFill>
          <a:ln>
            <a:solidFill>
              <a:srgbClr val="EBB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594360" y="4480560"/>
            <a:ext cx="2880360" cy="411479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04088" y="4572000"/>
            <a:ext cx="2660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2646"/>
                </a:solidFill>
                <a:latin typeface="Aptos"/>
              </a:rPr>
              <a:t>Integración y pruebas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474720" y="4480560"/>
            <a:ext cx="1330451" cy="411479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4823459" y="4480560"/>
            <a:ext cx="1330451" cy="411479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6172200" y="4480560"/>
            <a:ext cx="1330451" cy="411479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7520940" y="4480560"/>
            <a:ext cx="1330451" cy="411479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8869680" y="4480560"/>
            <a:ext cx="1330451" cy="411479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10218419" y="4480560"/>
            <a:ext cx="1330451" cy="411479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8924544" y="4562856"/>
            <a:ext cx="1220724" cy="246888"/>
          </a:xfrm>
          <a:prstGeom prst="roundRect">
            <a:avLst/>
          </a:prstGeom>
          <a:solidFill>
            <a:srgbClr val="D5C1F4"/>
          </a:solidFill>
          <a:ln>
            <a:solidFill>
              <a:srgbClr val="D5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10273284" y="4562856"/>
            <a:ext cx="1220724" cy="246888"/>
          </a:xfrm>
          <a:prstGeom prst="roundRect">
            <a:avLst/>
          </a:prstGeom>
          <a:solidFill>
            <a:srgbClr val="D5C1F4"/>
          </a:solidFill>
          <a:ln>
            <a:solidFill>
              <a:srgbClr val="D5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594360" y="4919472"/>
            <a:ext cx="2880360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04088" y="5010912"/>
            <a:ext cx="2660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2646"/>
                </a:solidFill>
                <a:latin typeface="Aptos"/>
              </a:rPr>
              <a:t>Documentación y presentación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474720" y="4919472"/>
            <a:ext cx="1330451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4823459" y="4919472"/>
            <a:ext cx="1330451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6172200" y="4919472"/>
            <a:ext cx="1330451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7520940" y="4919472"/>
            <a:ext cx="1330451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8869680" y="4919472"/>
            <a:ext cx="1330451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10218419" y="4919472"/>
            <a:ext cx="1330451" cy="41147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10273284" y="5001768"/>
            <a:ext cx="1220724" cy="246888"/>
          </a:xfrm>
          <a:prstGeom prst="roundRect">
            <a:avLst/>
          </a:prstGeom>
          <a:solidFill>
            <a:srgbClr val="ADC6E8"/>
          </a:solidFill>
          <a:ln>
            <a:solidFill>
              <a:srgbClr val="AD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13232" y="5501205"/>
            <a:ext cx="53035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 err="1">
                <a:solidFill>
                  <a:srgbClr val="5B3F91"/>
                </a:solidFill>
                <a:latin typeface="Aptos"/>
              </a:rPr>
              <a:t>Fechas</a:t>
            </a:r>
            <a:r>
              <a:rPr sz="1100" b="1" dirty="0">
                <a:solidFill>
                  <a:srgbClr val="5B3F91"/>
                </a:solidFill>
                <a:latin typeface="Aptos"/>
              </a:rPr>
              <a:t> : 7 de </a:t>
            </a:r>
            <a:r>
              <a:rPr sz="1100" b="1" dirty="0" err="1">
                <a:solidFill>
                  <a:srgbClr val="5B3F91"/>
                </a:solidFill>
                <a:latin typeface="Aptos"/>
              </a:rPr>
              <a:t>septiembre</a:t>
            </a:r>
            <a:r>
              <a:rPr sz="1100" b="1" dirty="0">
                <a:solidFill>
                  <a:srgbClr val="5B3F91"/>
                </a:solidFill>
                <a:latin typeface="Aptos"/>
              </a:rPr>
              <a:t> – 18 de </a:t>
            </a:r>
            <a:r>
              <a:rPr sz="1100" b="1" dirty="0" err="1">
                <a:solidFill>
                  <a:srgbClr val="5B3F91"/>
                </a:solidFill>
                <a:latin typeface="Aptos"/>
              </a:rPr>
              <a:t>octubre</a:t>
            </a:r>
            <a:r>
              <a:rPr sz="1100" b="1" dirty="0">
                <a:solidFill>
                  <a:srgbClr val="5B3F91"/>
                </a:solidFill>
                <a:latin typeface="Aptos"/>
              </a:rPr>
              <a:t> de 2026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1040" y="5870448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2646"/>
                </a:solidFill>
                <a:latin typeface="Aptos"/>
              </a:rPr>
              <a:t>Recursos: computadora, herramientas de programación, datos simulados y tiempo del equipo.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" y="6135189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302646"/>
                </a:solidFill>
                <a:latin typeface="Aptos"/>
              </a:rPr>
              <a:t>Costos a </a:t>
            </a:r>
            <a:r>
              <a:rPr sz="1050" b="0" dirty="0" err="1">
                <a:solidFill>
                  <a:srgbClr val="302646"/>
                </a:solidFill>
                <a:latin typeface="Aptos"/>
              </a:rPr>
              <a:t>controlar</a:t>
            </a:r>
            <a:r>
              <a:rPr sz="1050" b="0" dirty="0">
                <a:solidFill>
                  <a:srgbClr val="302646"/>
                </a:solidFill>
                <a:latin typeface="Aptos"/>
              </a:rPr>
              <a:t>: </a:t>
            </a:r>
            <a:r>
              <a:rPr sz="1050" b="0" dirty="0" err="1">
                <a:solidFill>
                  <a:srgbClr val="302646"/>
                </a:solidFill>
                <a:latin typeface="Aptos"/>
              </a:rPr>
              <a:t>herramientas</a:t>
            </a:r>
            <a:r>
              <a:rPr sz="1050" b="0" dirty="0">
                <a:solidFill>
                  <a:srgbClr val="302646"/>
                </a:solidFill>
                <a:latin typeface="Aptos"/>
              </a:rPr>
              <a:t>, </a:t>
            </a:r>
            <a:r>
              <a:rPr sz="1050" b="0" dirty="0" err="1">
                <a:solidFill>
                  <a:srgbClr val="302646"/>
                </a:solidFill>
                <a:latin typeface="Aptos"/>
              </a:rPr>
              <a:t>infraestructura</a:t>
            </a:r>
            <a:r>
              <a:rPr sz="1050" b="0" dirty="0">
                <a:solidFill>
                  <a:srgbClr val="302646"/>
                </a:solidFill>
                <a:latin typeface="Aptos"/>
              </a:rPr>
              <a:t> </a:t>
            </a:r>
            <a:r>
              <a:rPr sz="1050" b="0" dirty="0" err="1">
                <a:solidFill>
                  <a:srgbClr val="302646"/>
                </a:solidFill>
                <a:latin typeface="Aptos"/>
              </a:rPr>
              <a:t>tecnológica</a:t>
            </a:r>
            <a:r>
              <a:rPr sz="1050" b="0" dirty="0">
                <a:solidFill>
                  <a:srgbClr val="302646"/>
                </a:solidFill>
                <a:latin typeface="Aptos"/>
              </a:rPr>
              <a:t> y horas de </a:t>
            </a:r>
            <a:r>
              <a:rPr sz="1050" b="0" dirty="0" err="1">
                <a:solidFill>
                  <a:srgbClr val="302646"/>
                </a:solidFill>
                <a:latin typeface="Aptos"/>
              </a:rPr>
              <a:t>trabajo</a:t>
            </a:r>
            <a:r>
              <a:rPr sz="1050" b="0" dirty="0">
                <a:solidFill>
                  <a:srgbClr val="302646"/>
                </a:solidFill>
                <a:latin typeface="Aptos"/>
              </a:rPr>
              <a:t>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96178"/>
                </a:solidFill>
                <a:latin typeface="Aptos"/>
              </a:rPr>
              <a:t>Gestión de Proyectos TI • Planificación de proyectos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7265B"/>
                </a:solidFill>
                <a:latin typeface="Aptos"/>
              </a:rPr>
              <a:t>Proyecto 2 — WBS resumida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292608"/>
            <a:ext cx="685800" cy="438912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44200" y="3474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039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96178"/>
                </a:solidFill>
                <a:latin typeface="Aptos"/>
              </a:rPr>
              <a:t>Desglose de los procesos principales del proyecto Corona.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051560"/>
            <a:ext cx="4069080" cy="64008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069080" y="1225296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Simulación Corona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331720"/>
            <a:ext cx="1645920" cy="566928"/>
          </a:xfrm>
          <a:prstGeom prst="roundRect">
            <a:avLst/>
          </a:prstGeom>
          <a:solidFill>
            <a:srgbClr val="9DCAB1"/>
          </a:solidFill>
          <a:ln>
            <a:solidFill>
              <a:srgbClr val="9DC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48716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7265B"/>
                </a:solidFill>
                <a:latin typeface="Aptos"/>
              </a:rPr>
              <a:t>Producción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154680"/>
            <a:ext cx="16459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32826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302646"/>
                </a:solidFill>
                <a:latin typeface="Aptos"/>
              </a:rPr>
              <a:t>Entradas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813048"/>
            <a:ext cx="16459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941063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302646"/>
                </a:solidFill>
                <a:latin typeface="Aptos"/>
              </a:rPr>
              <a:t>Proceso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471416"/>
            <a:ext cx="16459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599431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302646"/>
                </a:solidFill>
                <a:latin typeface="Aptos"/>
              </a:rPr>
              <a:t>Salida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2331720"/>
            <a:ext cx="1645920" cy="566928"/>
          </a:xfrm>
          <a:prstGeom prst="roundRect">
            <a:avLst/>
          </a:prstGeom>
          <a:solidFill>
            <a:srgbClr val="ADC6E8"/>
          </a:solidFill>
          <a:ln>
            <a:solidFill>
              <a:srgbClr val="AD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71800" y="248716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7265B"/>
                </a:solidFill>
                <a:latin typeface="Aptos"/>
              </a:rPr>
              <a:t>Inventario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800" y="3154680"/>
            <a:ext cx="16459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71800" y="32826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302646"/>
                </a:solidFill>
                <a:latin typeface="Aptos"/>
              </a:rPr>
              <a:t>Existencias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71800" y="3813048"/>
            <a:ext cx="16459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71800" y="3941063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302646"/>
                </a:solidFill>
                <a:latin typeface="Aptos"/>
              </a:rPr>
              <a:t>Control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71800" y="4471416"/>
            <a:ext cx="16459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71800" y="4599431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302646"/>
                </a:solidFill>
                <a:latin typeface="Aptos"/>
              </a:rPr>
              <a:t>Movimientos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49240" y="2331720"/>
            <a:ext cx="1645920" cy="566928"/>
          </a:xfrm>
          <a:prstGeom prst="roundRect">
            <a:avLst/>
          </a:prstGeom>
          <a:solidFill>
            <a:srgbClr val="EBB4CF"/>
          </a:solidFill>
          <a:ln>
            <a:solidFill>
              <a:srgbClr val="EBB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49240" y="248716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7265B"/>
                </a:solidFill>
                <a:latin typeface="Aptos"/>
              </a:rPr>
              <a:t>Ventas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49240" y="3154680"/>
            <a:ext cx="16459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49240" y="32826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302646"/>
                </a:solidFill>
                <a:latin typeface="Aptos"/>
              </a:rPr>
              <a:t>Pedidos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49240" y="3813048"/>
            <a:ext cx="16459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49240" y="3941063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302646"/>
                </a:solidFill>
                <a:latin typeface="Aptos"/>
              </a:rPr>
              <a:t>Ventas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49240" y="4471416"/>
            <a:ext cx="16459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49240" y="4599431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302646"/>
                </a:solidFill>
                <a:latin typeface="Aptos"/>
              </a:rPr>
              <a:t>Resultados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6679" y="2331720"/>
            <a:ext cx="1645920" cy="566928"/>
          </a:xfrm>
          <a:prstGeom prst="roundRect">
            <a:avLst/>
          </a:prstGeom>
          <a:solidFill>
            <a:srgbClr val="D5C1F4"/>
          </a:solidFill>
          <a:ln>
            <a:solidFill>
              <a:srgbClr val="D5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26679" y="248716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7265B"/>
                </a:solidFill>
                <a:latin typeface="Aptos"/>
              </a:rPr>
              <a:t>Distribución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26679" y="3154680"/>
            <a:ext cx="16459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26679" y="32826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302646"/>
                </a:solidFill>
                <a:latin typeface="Aptos"/>
              </a:rPr>
              <a:t>Despacho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26679" y="3813048"/>
            <a:ext cx="16459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26679" y="3941063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302646"/>
                </a:solidFill>
                <a:latin typeface="Aptos"/>
              </a:rPr>
              <a:t>Rutas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26679" y="4471416"/>
            <a:ext cx="16459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26679" y="4599431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302646"/>
                </a:solidFill>
                <a:latin typeface="Aptos"/>
              </a:rPr>
              <a:t>Entrega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104120" y="2331720"/>
            <a:ext cx="1645920" cy="566928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104120" y="248716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7265B"/>
                </a:solidFill>
                <a:latin typeface="Aptos"/>
              </a:rPr>
              <a:t>Decisiones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04120" y="3154680"/>
            <a:ext cx="16459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104120" y="32826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302646"/>
                </a:solidFill>
                <a:latin typeface="Aptos"/>
              </a:rPr>
              <a:t>Escenarios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04120" y="3813048"/>
            <a:ext cx="16459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104120" y="3941063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302646"/>
                </a:solidFill>
                <a:latin typeface="Aptos"/>
              </a:rPr>
              <a:t>Variables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04120" y="4471416"/>
            <a:ext cx="16459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104120" y="4599431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0">
                <a:solidFill>
                  <a:srgbClr val="302646"/>
                </a:solidFill>
                <a:latin typeface="Aptos"/>
              </a:rPr>
              <a:t>Análisis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4406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37265B"/>
                </a:solidFill>
                <a:latin typeface="Aptos"/>
              </a:rPr>
              <a:t>La WBS permite separar los procesos para asignar responsables y controlar cada componente antes de integrarlo.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96178"/>
                </a:solidFill>
                <a:latin typeface="Aptos"/>
              </a:rPr>
              <a:t>Gestión de Proyectos TI • Planificación de proyectos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7265B"/>
                </a:solidFill>
                <a:latin typeface="Aptos"/>
              </a:rPr>
              <a:t>Proyecto 3 — Simulación de procesos de una fábrica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292608"/>
            <a:ext cx="685800" cy="438912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44200" y="3474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039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96178"/>
                </a:solidFill>
                <a:latin typeface="Aptos"/>
              </a:rPr>
              <a:t>Instituto Tecnológico de Frontera Comalapa • Ingeniería en Sistemas Computacionales • Responsable: Hector Yazid Anzueto López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302646"/>
                </a:solidFill>
                <a:latin typeface="Aptos"/>
              </a:rPr>
              <a:t>El formulario indica inicio el 23 de agosto, finalización el 4 de octubre y una duración estimada de 6 semanas.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2880360" cy="50292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892807"/>
            <a:ext cx="26609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Actividad / fase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83080"/>
            <a:ext cx="1330451" cy="50292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892807"/>
            <a:ext cx="133045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23–29
Ago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23459" y="1783080"/>
            <a:ext cx="1330451" cy="50292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3459" y="1892807"/>
            <a:ext cx="133045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30 Ago–5
Sep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783080"/>
            <a:ext cx="1330451" cy="50292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1892807"/>
            <a:ext cx="133045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6–12
Sep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0940" y="1783080"/>
            <a:ext cx="1330451" cy="50292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20940" y="1892807"/>
            <a:ext cx="133045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13–19
Sep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783080"/>
            <a:ext cx="1330451" cy="50292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0" y="1892807"/>
            <a:ext cx="133045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20–26
Sep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18419" y="1783080"/>
            <a:ext cx="1330451" cy="50292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18419" y="1892807"/>
            <a:ext cx="133045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27 Sep–4
Oct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286000"/>
            <a:ext cx="2880360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4088" y="2377440"/>
            <a:ext cx="2660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2646"/>
                </a:solidFill>
                <a:latin typeface="Aptos"/>
              </a:rPr>
              <a:t>Definir objetivos y alcance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4720" y="2286000"/>
            <a:ext cx="1330451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823459" y="2286000"/>
            <a:ext cx="1330451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172200" y="2286000"/>
            <a:ext cx="1330451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520940" y="2286000"/>
            <a:ext cx="1330451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869680" y="2286000"/>
            <a:ext cx="1330451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218419" y="2286000"/>
            <a:ext cx="1330451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529584" y="2368296"/>
            <a:ext cx="1220724" cy="237744"/>
          </a:xfrm>
          <a:prstGeom prst="roundRect">
            <a:avLst/>
          </a:prstGeom>
          <a:solidFill>
            <a:srgbClr val="D5C1F4"/>
          </a:solidFill>
          <a:ln>
            <a:solidFill>
              <a:srgbClr val="D5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94360" y="2715768"/>
            <a:ext cx="2880360" cy="402335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4088" y="2807208"/>
            <a:ext cx="2660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2646"/>
                </a:solidFill>
                <a:latin typeface="Aptos"/>
              </a:rPr>
              <a:t>Analizar procesos de fábrica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2715768"/>
            <a:ext cx="1330451" cy="402335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823459" y="2715768"/>
            <a:ext cx="1330451" cy="402335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172200" y="2715768"/>
            <a:ext cx="1330451" cy="402335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520940" y="2715768"/>
            <a:ext cx="1330451" cy="402335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869680" y="2715768"/>
            <a:ext cx="1330451" cy="402335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218419" y="2715768"/>
            <a:ext cx="1330451" cy="402335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3529584" y="2798063"/>
            <a:ext cx="1220724" cy="237744"/>
          </a:xfrm>
          <a:prstGeom prst="roundRect">
            <a:avLst/>
          </a:prstGeom>
          <a:solidFill>
            <a:srgbClr val="ADC6E8"/>
          </a:solidFill>
          <a:ln>
            <a:solidFill>
              <a:srgbClr val="AD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878323" y="2798063"/>
            <a:ext cx="1220724" cy="237744"/>
          </a:xfrm>
          <a:prstGeom prst="roundRect">
            <a:avLst/>
          </a:prstGeom>
          <a:solidFill>
            <a:srgbClr val="ADC6E8"/>
          </a:solidFill>
          <a:ln>
            <a:solidFill>
              <a:srgbClr val="AD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94360" y="3145536"/>
            <a:ext cx="2880360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4088" y="3236976"/>
            <a:ext cx="2660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2646"/>
                </a:solidFill>
                <a:latin typeface="Aptos"/>
              </a:rPr>
              <a:t>Diseñar modelo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74720" y="3145536"/>
            <a:ext cx="1330451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823459" y="3145536"/>
            <a:ext cx="1330451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6172200" y="3145536"/>
            <a:ext cx="1330451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7520940" y="3145536"/>
            <a:ext cx="1330451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869680" y="3145536"/>
            <a:ext cx="1330451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0218419" y="3145536"/>
            <a:ext cx="1330451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878323" y="3227832"/>
            <a:ext cx="1220724" cy="237744"/>
          </a:xfrm>
          <a:prstGeom prst="roundRect">
            <a:avLst/>
          </a:prstGeom>
          <a:solidFill>
            <a:srgbClr val="EBB4CF"/>
          </a:solidFill>
          <a:ln>
            <a:solidFill>
              <a:srgbClr val="EBB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227064" y="3227832"/>
            <a:ext cx="1220724" cy="237744"/>
          </a:xfrm>
          <a:prstGeom prst="roundRect">
            <a:avLst/>
          </a:prstGeom>
          <a:solidFill>
            <a:srgbClr val="EBB4CF"/>
          </a:solidFill>
          <a:ln>
            <a:solidFill>
              <a:srgbClr val="EBB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594360" y="3575304"/>
            <a:ext cx="2880360" cy="402335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04088" y="3666744"/>
            <a:ext cx="2660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2646"/>
                </a:solidFill>
                <a:latin typeface="Aptos"/>
              </a:rPr>
              <a:t>Programar simulación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74720" y="3575304"/>
            <a:ext cx="1330451" cy="402335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4823459" y="3575304"/>
            <a:ext cx="1330451" cy="402335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172200" y="3575304"/>
            <a:ext cx="1330451" cy="402335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7520940" y="3575304"/>
            <a:ext cx="1330451" cy="402335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869680" y="3575304"/>
            <a:ext cx="1330451" cy="402335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10218419" y="3575304"/>
            <a:ext cx="1330451" cy="402335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6227064" y="3657600"/>
            <a:ext cx="1220724" cy="237744"/>
          </a:xfrm>
          <a:prstGeom prst="roundRect">
            <a:avLst/>
          </a:prstGeom>
          <a:solidFill>
            <a:srgbClr val="9DCAB1"/>
          </a:solidFill>
          <a:ln>
            <a:solidFill>
              <a:srgbClr val="9DC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7575804" y="3657600"/>
            <a:ext cx="1220724" cy="237744"/>
          </a:xfrm>
          <a:prstGeom prst="roundRect">
            <a:avLst/>
          </a:prstGeom>
          <a:solidFill>
            <a:srgbClr val="9DCAB1"/>
          </a:solidFill>
          <a:ln>
            <a:solidFill>
              <a:srgbClr val="9DC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94360" y="4005072"/>
            <a:ext cx="2880360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04088" y="4096511"/>
            <a:ext cx="2660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2646"/>
                </a:solidFill>
                <a:latin typeface="Aptos"/>
              </a:rPr>
              <a:t>Ejecutar escenarios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474720" y="4005072"/>
            <a:ext cx="1330451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4823459" y="4005072"/>
            <a:ext cx="1330451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6172200" y="4005072"/>
            <a:ext cx="1330451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7520940" y="4005072"/>
            <a:ext cx="1330451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8869680" y="4005072"/>
            <a:ext cx="1330451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10218419" y="4005072"/>
            <a:ext cx="1330451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7575804" y="4087368"/>
            <a:ext cx="1220724" cy="237744"/>
          </a:xfrm>
          <a:prstGeom prst="roundRect">
            <a:avLst/>
          </a:prstGeom>
          <a:solidFill>
            <a:srgbClr val="D5C1F4"/>
          </a:solidFill>
          <a:ln>
            <a:solidFill>
              <a:srgbClr val="D5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8924544" y="4087368"/>
            <a:ext cx="1220724" cy="237744"/>
          </a:xfrm>
          <a:prstGeom prst="roundRect">
            <a:avLst/>
          </a:prstGeom>
          <a:solidFill>
            <a:srgbClr val="D5C1F4"/>
          </a:solidFill>
          <a:ln>
            <a:solidFill>
              <a:srgbClr val="D5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594360" y="4434840"/>
            <a:ext cx="2880360" cy="402335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04088" y="4526279"/>
            <a:ext cx="2660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2646"/>
                </a:solidFill>
                <a:latin typeface="Aptos"/>
              </a:rPr>
              <a:t>Analizar variables y resultados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474720" y="4434840"/>
            <a:ext cx="1330451" cy="402335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4823459" y="4434840"/>
            <a:ext cx="1330451" cy="402335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6172200" y="4434840"/>
            <a:ext cx="1330451" cy="402335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7520940" y="4434840"/>
            <a:ext cx="1330451" cy="402335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8869680" y="4434840"/>
            <a:ext cx="1330451" cy="402335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10218419" y="4434840"/>
            <a:ext cx="1330451" cy="402335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8924544" y="4517136"/>
            <a:ext cx="1220724" cy="237744"/>
          </a:xfrm>
          <a:prstGeom prst="roundRect">
            <a:avLst/>
          </a:prstGeom>
          <a:solidFill>
            <a:srgbClr val="EBB4CF"/>
          </a:solidFill>
          <a:ln>
            <a:solidFill>
              <a:srgbClr val="EBB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10273284" y="4517136"/>
            <a:ext cx="1220724" cy="237744"/>
          </a:xfrm>
          <a:prstGeom prst="roundRect">
            <a:avLst/>
          </a:prstGeom>
          <a:solidFill>
            <a:srgbClr val="EBB4CF"/>
          </a:solidFill>
          <a:ln>
            <a:solidFill>
              <a:srgbClr val="EBB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594360" y="4864608"/>
            <a:ext cx="2880360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04088" y="4956048"/>
            <a:ext cx="26609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2646"/>
                </a:solidFill>
                <a:latin typeface="Aptos"/>
              </a:rPr>
              <a:t>Informe y presentación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474720" y="4864608"/>
            <a:ext cx="1330451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4823459" y="4864608"/>
            <a:ext cx="1330451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6172200" y="4864608"/>
            <a:ext cx="1330451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7520940" y="4864608"/>
            <a:ext cx="1330451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8869680" y="4864608"/>
            <a:ext cx="1330451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10218419" y="4864608"/>
            <a:ext cx="1330451" cy="402335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10273284" y="4946904"/>
            <a:ext cx="1220724" cy="237744"/>
          </a:xfrm>
          <a:prstGeom prst="roundRect">
            <a:avLst/>
          </a:prstGeom>
          <a:solidFill>
            <a:srgbClr val="ADC6E8"/>
          </a:solidFill>
          <a:ln>
            <a:solidFill>
              <a:srgbClr val="AD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85800" y="521208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B3F91"/>
                </a:solidFill>
                <a:latin typeface="Aptos"/>
              </a:rPr>
              <a:t>Cronograma respetando las fechas proporcionadas en el formulario.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5800" y="5559552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2646"/>
                </a:solidFill>
                <a:latin typeface="Aptos"/>
              </a:rPr>
              <a:t>Recursos: herramientas de programación, computadora, datos y tiempo del equipo.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" y="585216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302646"/>
                </a:solidFill>
                <a:latin typeface="Aptos"/>
              </a:rPr>
              <a:t>Costos a controlar: herramientas tecnológicas, equipo y horas de trabajo.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96178"/>
                </a:solidFill>
                <a:latin typeface="Aptos"/>
              </a:rPr>
              <a:t>Gestión de Proyectos TI • Planificación de proyectos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7265B"/>
                </a:solidFill>
                <a:latin typeface="Aptos"/>
              </a:rPr>
              <a:t>Proyecto 3 — WBS resumida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292608"/>
            <a:ext cx="685800" cy="438912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44200" y="3474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039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96178"/>
                </a:solidFill>
                <a:latin typeface="Aptos"/>
              </a:rPr>
              <a:t>Desglose de trabajo para la simulación de procesos de fábrica.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051560"/>
            <a:ext cx="3886200" cy="64008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60520" y="1225296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Simulación de fábrica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31720"/>
            <a:ext cx="1645920" cy="566928"/>
          </a:xfrm>
          <a:prstGeom prst="roundRect">
            <a:avLst/>
          </a:prstGeom>
          <a:solidFill>
            <a:srgbClr val="D5C1F4"/>
          </a:solidFill>
          <a:ln>
            <a:solidFill>
              <a:srgbClr val="D5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48716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7265B"/>
                </a:solidFill>
                <a:latin typeface="Aptos"/>
              </a:rPr>
              <a:t>Análisis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154680"/>
            <a:ext cx="1645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302646"/>
                </a:solidFill>
                <a:latin typeface="Aptos"/>
              </a:rPr>
              <a:t>Proceso actual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867912"/>
            <a:ext cx="1645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4005072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302646"/>
                </a:solidFill>
                <a:latin typeface="Aptos"/>
              </a:rPr>
              <a:t>Variables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2331720"/>
            <a:ext cx="1645920" cy="566928"/>
          </a:xfrm>
          <a:prstGeom prst="roundRect">
            <a:avLst/>
          </a:prstGeom>
          <a:solidFill>
            <a:srgbClr val="ADC6E8"/>
          </a:solidFill>
          <a:ln>
            <a:solidFill>
              <a:srgbClr val="ADC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800" y="248716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7265B"/>
                </a:solidFill>
                <a:latin typeface="Aptos"/>
              </a:rPr>
              <a:t>Diseño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71800" y="3154680"/>
            <a:ext cx="1645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71800" y="329184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302646"/>
                </a:solidFill>
                <a:latin typeface="Aptos"/>
              </a:rPr>
              <a:t>Modelo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800" y="3867912"/>
            <a:ext cx="1645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71800" y="4005072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302646"/>
                </a:solidFill>
                <a:latin typeface="Aptos"/>
              </a:rPr>
              <a:t>Escenarios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7800" y="2331720"/>
            <a:ext cx="1645920" cy="566928"/>
          </a:xfrm>
          <a:prstGeom prst="roundRect">
            <a:avLst/>
          </a:prstGeom>
          <a:solidFill>
            <a:srgbClr val="9DCAB1"/>
          </a:solidFill>
          <a:ln>
            <a:solidFill>
              <a:srgbClr val="9DCA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57800" y="248716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7265B"/>
                </a:solidFill>
                <a:latin typeface="Aptos"/>
              </a:rPr>
              <a:t>Desarrollo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57800" y="3154680"/>
            <a:ext cx="1645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57800" y="329184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302646"/>
                </a:solidFill>
                <a:latin typeface="Aptos"/>
              </a:rPr>
              <a:t>Programación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57800" y="3867912"/>
            <a:ext cx="1645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57800" y="4005072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302646"/>
                </a:solidFill>
                <a:latin typeface="Aptos"/>
              </a:rPr>
              <a:t>Integración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2331720"/>
            <a:ext cx="1645920" cy="566928"/>
          </a:xfrm>
          <a:prstGeom prst="roundRect">
            <a:avLst/>
          </a:prstGeom>
          <a:solidFill>
            <a:srgbClr val="EBB4CF"/>
          </a:solidFill>
          <a:ln>
            <a:solidFill>
              <a:srgbClr val="EBB4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43800" y="248716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7265B"/>
                </a:solidFill>
                <a:latin typeface="Aptos"/>
              </a:rPr>
              <a:t>Simulación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3154680"/>
            <a:ext cx="1645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43800" y="329184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302646"/>
                </a:solidFill>
                <a:latin typeface="Aptos"/>
              </a:rPr>
              <a:t>Ejecución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3867912"/>
            <a:ext cx="1645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43800" y="4005072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302646"/>
                </a:solidFill>
                <a:latin typeface="Aptos"/>
              </a:rPr>
              <a:t>Pruebas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29800" y="2331720"/>
            <a:ext cx="1645920" cy="566928"/>
          </a:xfrm>
          <a:prstGeom prst="roundRect">
            <a:avLst/>
          </a:prstGeom>
          <a:solidFill>
            <a:srgbClr val="D5C1F4"/>
          </a:solidFill>
          <a:ln>
            <a:solidFill>
              <a:srgbClr val="D5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29800" y="248716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7265B"/>
                </a:solidFill>
                <a:latin typeface="Aptos"/>
              </a:rPr>
              <a:t>Resultados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29800" y="3154680"/>
            <a:ext cx="1645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29800" y="329184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302646"/>
                </a:solidFill>
                <a:latin typeface="Aptos"/>
              </a:rPr>
              <a:t>Análisis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29800" y="3867912"/>
            <a:ext cx="16459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29800" y="4005072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302646"/>
                </a:solidFill>
                <a:latin typeface="Aptos"/>
              </a:rPr>
              <a:t>Informe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98348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37265B"/>
                </a:solidFill>
                <a:latin typeface="Aptos"/>
              </a:rPr>
              <a:t>La estructura facilita dividir el proyecto en partes pequeñas y medibles, manteniendo una visión completa del resultado.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96178"/>
                </a:solidFill>
                <a:latin typeface="Aptos"/>
              </a:rPr>
              <a:t>Gestión de Proyectos TI • Planificación de proyectos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7265B"/>
                </a:solidFill>
                <a:latin typeface="Aptos"/>
              </a:rPr>
              <a:t>Resumen de los tres cronogramas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292608"/>
            <a:ext cx="685800" cy="438912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44200" y="3474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039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96178"/>
                </a:solidFill>
                <a:latin typeface="Aptos"/>
              </a:rPr>
              <a:t>Comparación de etapas y elementos de planificación.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1847088" cy="59436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175564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Proyecto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1325880"/>
            <a:ext cx="1069848" cy="59436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31720" y="1444752"/>
            <a:ext cx="978407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Duración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25880"/>
            <a:ext cx="3858768" cy="59436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29000" y="1444752"/>
            <a:ext cx="376732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Etapas principales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1325880"/>
            <a:ext cx="2212848" cy="59436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0" y="1444752"/>
            <a:ext cx="21214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Recursos clave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59" y="1325880"/>
            <a:ext cx="2212848" cy="594360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55480" y="1444752"/>
            <a:ext cx="2121408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Control de costos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1947672"/>
            <a:ext cx="1847088" cy="90525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" y="2075688"/>
            <a:ext cx="170992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302646"/>
                </a:solidFill>
                <a:latin typeface="Aptos"/>
              </a:rPr>
              <a:t>Banco Bansiso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1947672"/>
            <a:ext cx="1069848" cy="90525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59152" y="2075688"/>
            <a:ext cx="93268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302646"/>
                </a:solidFill>
                <a:latin typeface="Aptos"/>
              </a:rPr>
              <a:t>5 semanas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1947672"/>
            <a:ext cx="3858768" cy="90525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56432" y="2075688"/>
            <a:ext cx="372160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302646"/>
                </a:solidFill>
                <a:latin typeface="Aptos"/>
              </a:rPr>
              <a:t>Análisis → Diseño → Desarrollo → Pruebas → Entrega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1947672"/>
            <a:ext cx="2212848" cy="90525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42631" y="2075688"/>
            <a:ext cx="207568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302646"/>
                </a:solidFill>
                <a:latin typeface="Aptos"/>
              </a:rPr>
              <a:t>Programación, computadora, datos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59" y="1947672"/>
            <a:ext cx="2212848" cy="90525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82911" y="2075688"/>
            <a:ext cx="207568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302646"/>
                </a:solidFill>
                <a:latin typeface="Aptos"/>
              </a:rPr>
              <a:t>Herramientas y tiempo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2907791"/>
            <a:ext cx="1847088" cy="905256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" y="3035808"/>
            <a:ext cx="170992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302646"/>
                </a:solidFill>
                <a:latin typeface="Aptos"/>
              </a:rPr>
              <a:t>Corona / Grupo Modelo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2907791"/>
            <a:ext cx="1069848" cy="905256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359152" y="3035808"/>
            <a:ext cx="93268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302646"/>
                </a:solidFill>
                <a:latin typeface="Aptos"/>
              </a:rPr>
              <a:t>6 semanas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2907791"/>
            <a:ext cx="3858768" cy="905256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56432" y="3035808"/>
            <a:ext cx="372160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302646"/>
                </a:solidFill>
                <a:latin typeface="Aptos"/>
              </a:rPr>
              <a:t>Procesos → Diseño → Producción → Ventas → Distribución → Pruebas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69480" y="2907791"/>
            <a:ext cx="2212848" cy="905256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42631" y="3035808"/>
            <a:ext cx="207568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302646"/>
                </a:solidFill>
                <a:latin typeface="Aptos"/>
              </a:rPr>
              <a:t>Programación, datos, equipo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59" y="2907791"/>
            <a:ext cx="2212848" cy="905256"/>
          </a:xfrm>
          <a:prstGeom prst="roundRect">
            <a:avLst/>
          </a:prstGeom>
          <a:solidFill>
            <a:srgbClr val="EBE0FA"/>
          </a:solidFill>
          <a:ln>
            <a:solidFill>
              <a:srgbClr val="EB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82911" y="3035808"/>
            <a:ext cx="207568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302646"/>
                </a:solidFill>
                <a:latin typeface="Aptos"/>
              </a:rPr>
              <a:t>Tecnología e infraestructura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3867912"/>
            <a:ext cx="1847088" cy="90525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4632" y="3995928"/>
            <a:ext cx="170992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302646"/>
                </a:solidFill>
                <a:latin typeface="Aptos"/>
              </a:rPr>
              <a:t>Fábrica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86000" y="3867912"/>
            <a:ext cx="1069848" cy="90525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359152" y="3995928"/>
            <a:ext cx="93268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302646"/>
                </a:solidFill>
                <a:latin typeface="Aptos"/>
              </a:rPr>
              <a:t>6 semanas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3867912"/>
            <a:ext cx="3858768" cy="90525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56432" y="3995928"/>
            <a:ext cx="372160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302646"/>
                </a:solidFill>
                <a:latin typeface="Aptos"/>
              </a:rPr>
              <a:t>Análisis → Diseño → Desarrollo → Escenarios → Resultados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69480" y="3867912"/>
            <a:ext cx="2212848" cy="90525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42631" y="3995928"/>
            <a:ext cx="207568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302646"/>
                </a:solidFill>
                <a:latin typeface="Aptos"/>
              </a:rPr>
              <a:t>Programación, datos, equipo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09759" y="3867912"/>
            <a:ext cx="2212848" cy="90525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582911" y="3995928"/>
            <a:ext cx="207568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0">
                <a:solidFill>
                  <a:srgbClr val="302646"/>
                </a:solidFill>
                <a:latin typeface="Aptos"/>
              </a:rPr>
              <a:t>Tecnología y tiempo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07492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37265B"/>
                </a:solidFill>
                <a:latin typeface="Aptos"/>
              </a:rPr>
              <a:t>Los cronogramas son propuestas académicas: pueden modificarse según disponibilidad de recursos, avances y cambios de alcance.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96178"/>
                </a:solidFill>
                <a:latin typeface="Aptos"/>
              </a:rPr>
              <a:t>Gestión de Proyectos TI • Planificación de proyectos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37265B"/>
                </a:solidFill>
                <a:latin typeface="Aptos"/>
              </a:rPr>
              <a:t>Conclusión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744200" y="292608"/>
            <a:ext cx="685800" cy="438912"/>
          </a:xfrm>
          <a:prstGeom prst="roundRect">
            <a:avLst/>
          </a:prstGeom>
          <a:solidFill>
            <a:srgbClr val="5B3F91"/>
          </a:solidFill>
          <a:ln>
            <a:solidFill>
              <a:srgbClr val="5B3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744200" y="347472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5039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96178"/>
                </a:solidFill>
                <a:latin typeface="Aptos"/>
              </a:rPr>
              <a:t>La planificación convierte los objetivos de cada proyecto en un camino de trabajo organizado.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10332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325880"/>
            <a:ext cx="10332720" cy="475488"/>
          </a:xfrm>
          <a:prstGeom prst="roundRect">
            <a:avLst/>
          </a:prstGeom>
          <a:solidFill>
            <a:srgbClr val="D5C1F4"/>
          </a:solidFill>
          <a:ln>
            <a:solidFill>
              <a:srgbClr val="D5C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1417320"/>
            <a:ext cx="10003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7265B"/>
                </a:solidFill>
                <a:latin typeface="Aptos"/>
              </a:rPr>
              <a:t>Conclusión general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47672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302646"/>
                </a:solidFill>
                <a:latin typeface="Aptos"/>
              </a:rPr>
              <a:t>• Los tres proyectos requieren definir objetivos, alcance y actividades antes de ejecutar la simulación.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50591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302646"/>
                </a:solidFill>
                <a:latin typeface="Aptos"/>
              </a:rPr>
              <a:t>• El cronograma permite distribuir las tareas por etapas y visualizar su duración.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53511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302646"/>
                </a:solidFill>
                <a:latin typeface="Aptos"/>
              </a:rPr>
              <a:t>• La WBS ayuda a dividir el trabajo en componentes manejables y facilita su seguimiento.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56431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302646"/>
                </a:solidFill>
                <a:latin typeface="Aptos"/>
              </a:rPr>
              <a:t>• Considerar recursos y costos permite anticipar necesidades y mantener un mayor control del proyecto.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59351"/>
            <a:ext cx="9966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302646"/>
                </a:solidFill>
                <a:latin typeface="Aptos"/>
              </a:rPr>
              <a:t>• Los diagramas presentados sirven como una guía inicial que puede actualizarse conforme avance cada proyecto.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715000"/>
            <a:ext cx="1014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37265B"/>
                </a:solidFill>
                <a:latin typeface="Aptos"/>
              </a:rPr>
              <a:t>Planificar hoy es construir el camino para alcanzar los resultados esperados.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96178"/>
                </a:solidFill>
                <a:latin typeface="Aptos"/>
              </a:rPr>
              <a:t>Gestión de Proyectos TI • Planificación de proyectos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1265</Words>
  <Application>Microsoft Office PowerPoint</Application>
  <PresentationFormat>Panorámica</PresentationFormat>
  <Paragraphs>225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Century Gothic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Cynthia</dc:creator>
  <cp:keywords/>
  <dc:description>generated using python-pptx</dc:description>
  <cp:lastModifiedBy>Jasmine Morales</cp:lastModifiedBy>
  <cp:revision>3</cp:revision>
  <dcterms:created xsi:type="dcterms:W3CDTF">2013-01-27T09:14:16Z</dcterms:created>
  <dcterms:modified xsi:type="dcterms:W3CDTF">2026-09-21T05:20:14Z</dcterms:modified>
  <cp:category/>
</cp:coreProperties>
</file>