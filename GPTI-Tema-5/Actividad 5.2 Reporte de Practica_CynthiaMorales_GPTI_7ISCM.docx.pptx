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4527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chemeClr val="accent2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ynthia21Morales/GPTI_CynthiaJasmineMT/blob/main/GPTI-Tema-5/Actividad%205.2%20Reporte%20de%20Practica_CynthiaMorales_GPTI_7ISCM.docx.pptx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Instituto Tecnológico Frontera Comalapa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914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Modalidad mixta · Ingeniería en Sistemas Computacionales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5544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Reporte de práctica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004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ASIGNATURA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49300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bg1"/>
                </a:solidFill>
              </a:rPr>
              <a:t>Gestión de Proyectos TI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32004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SEMESTRE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349300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bg1"/>
                </a:solidFill>
              </a:rPr>
              <a:t>7mo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251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NÚM. DE CONTROL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54456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bg1"/>
                </a:solidFill>
              </a:rPr>
              <a:t>231260014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4251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NOMBRE DEL ALUMNO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454456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bg1"/>
                </a:solidFill>
              </a:rPr>
              <a:t>Morales Torres Cynthia Jasmine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3035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DOCENTE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9612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bg1"/>
                </a:solidFill>
              </a:rPr>
              <a:t>ING. Francisco Javier Velázquez Mingo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53035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FECHA DE ENTREGA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559612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bg1"/>
                </a:solidFill>
              </a:rPr>
              <a:t>Frontera Comalapa, Chiapas a 26 de </a:t>
            </a:r>
            <a:r>
              <a:rPr lang="en-US" sz="1700" dirty="0" err="1">
                <a:solidFill>
                  <a:schemeClr val="bg1"/>
                </a:solidFill>
              </a:rPr>
              <a:t>septiembre</a:t>
            </a:r>
            <a:r>
              <a:rPr lang="en-US" sz="1700" dirty="0">
                <a:solidFill>
                  <a:schemeClr val="bg1"/>
                </a:solidFill>
              </a:rPr>
              <a:t> de 2026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320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Introducción</a:t>
            </a:r>
            <a:endParaRPr lang="en-US" sz="3000" dirty="0"/>
          </a:p>
        </p:txBody>
      </p:sp>
      <p:sp>
        <p:nvSpPr>
          <p:cNvPr id="3" name="Subrayado"/>
          <p:cNvSpPr/>
          <p:nvPr/>
        </p:nvSpPr>
        <p:spPr>
          <a:xfrm>
            <a:off x="640080" y="1143000"/>
            <a:ext cx="1097280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109728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Las herramientas de gestión permiten concentrar la información de un proyecto, repartir responsabilidades y comprobar si el avance va conforme a lo planeado.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En esta práctica se trabajaron tres proyectos de simulación de la clase: Corona, la fábrica de galletas y Banco Bansiso.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Se emplearon ProjectLibre (alternativa libre a Microsoft Project), Jira y Trello.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También se practicó el control de cambios y el seguimiento del avance real contra lo planeado.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320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Justificación</a:t>
            </a:r>
            <a:endParaRPr lang="en-US" sz="3000" dirty="0"/>
          </a:p>
        </p:txBody>
      </p:sp>
      <p:sp>
        <p:nvSpPr>
          <p:cNvPr id="3" name="Subrayado"/>
          <p:cNvSpPr/>
          <p:nvPr/>
        </p:nvSpPr>
        <p:spPr>
          <a:xfrm>
            <a:off x="640080" y="1143000"/>
            <a:ext cx="1097280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109728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Un proyecto de TI necesita actividades, fechas, responsables y recursos bien organizados; sin ellos los retrasos y cambios se detectan tarde.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Aplicar las herramientas a proyectos reales de la clase permite ver cómo cada una resuelve una necesidad distinta: planear en el tiempo, gestionar el trabajo y visualizar el flujo.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El control de cambios enseña a documentar una modificación y medir su impacto antes de continuar.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320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Objetivos de la práctica</a:t>
            </a:r>
            <a:endParaRPr lang="en-US" sz="3000" dirty="0"/>
          </a:p>
        </p:txBody>
      </p:sp>
      <p:sp>
        <p:nvSpPr>
          <p:cNvPr id="3" name="Subrayado"/>
          <p:cNvSpPr/>
          <p:nvPr/>
        </p:nvSpPr>
        <p:spPr>
          <a:xfrm>
            <a:off x="640080" y="1143000"/>
            <a:ext cx="1097280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109728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Aplicar herramientas tecnológicas para planear, organizar y dar seguimiento a proyectos de TI.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Construir cronogramas con actividades, fechas, dependencias y recursos.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Registrar los requisitos como historias de usuario en Jira.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Representar el flujo de trabajo en tableros de Trello.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Simular un cambio y analizar su impacto en el cronograma.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Comparar las herramientas según el tipo de información que administran.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320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Proyectos utilizados</a:t>
            </a:r>
            <a:endParaRPr lang="en-US" sz="3000" dirty="0"/>
          </a:p>
        </p:txBody>
      </p:sp>
      <p:sp>
        <p:nvSpPr>
          <p:cNvPr id="3" name="Subrayado"/>
          <p:cNvSpPr/>
          <p:nvPr/>
        </p:nvSpPr>
        <p:spPr>
          <a:xfrm>
            <a:off x="640080" y="1143000"/>
            <a:ext cx="1097280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972800" cy="292608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Proyecto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Proceso representado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Propósito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Corona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Producción, inventario, ventas y distribución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Simular el proceso operativo y comercial de la empresa.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Fábrica de galletas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Mezclado, moldeado, horneado, enfriamiento y empaque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Simular la fabricación y ver cómo las variables afectan la producción.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Banco Bansiso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Llegada de clientes, filas y ventanillas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Simular la atención y comparar escenarios de ventanillas.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320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Project: función</a:t>
            </a:r>
            <a:endParaRPr lang="en-US" sz="3000" dirty="0"/>
          </a:p>
        </p:txBody>
      </p:sp>
      <p:sp>
        <p:nvSpPr>
          <p:cNvPr id="3" name="Subrayado"/>
          <p:cNvSpPr/>
          <p:nvPr/>
        </p:nvSpPr>
        <p:spPr>
          <a:xfrm>
            <a:off x="640080" y="1143000"/>
            <a:ext cx="1097280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73152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Herramienta de planificación detallada y control de proyectos (enfoque predictivo).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Permite elaborar diagramas de Gantt y enlazar tareas con dependencias.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Calcula la ruta crítica: las tareas que no pueden retrasarse sin mover el fin del proyecto.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Asigna recursos y costos, y guarda líneas base para comparar lo planeado con lo real.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En la práctica se usó ProjectLibre, que reproduce estas funciones de forma gratuita.</a:t>
            </a:r>
            <a:endParaRPr lang="en-US" sz="1900" dirty="0"/>
          </a:p>
        </p:txBody>
      </p:sp>
      <p:sp>
        <p:nvSpPr>
          <p:cNvPr id="5" name="Tarjeta lateral"/>
          <p:cNvSpPr/>
          <p:nvPr/>
        </p:nvSpPr>
        <p:spPr>
          <a:xfrm>
            <a:off x="8412480" y="1463040"/>
            <a:ext cx="3291840" cy="3108960"/>
          </a:xfrm>
          <a:prstGeom prst="roundRect">
            <a:avLst>
              <a:gd name="adj" fmla="val 4412"/>
            </a:avLst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595360" y="173736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Predictivo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595360" y="301752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bg1"/>
                </a:solidFill>
              </a:rPr>
              <a:t>Gantt, dependencias, recursos y línea base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320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ProjectLibre – Corona</a:t>
            </a:r>
            <a:endParaRPr lang="en-US" sz="3000" dirty="0"/>
          </a:p>
        </p:txBody>
      </p:sp>
      <p:sp>
        <p:nvSpPr>
          <p:cNvPr id="3" name="Subrayado"/>
          <p:cNvSpPr/>
          <p:nvPr/>
        </p:nvSpPr>
        <p:spPr>
          <a:xfrm>
            <a:off x="640080" y="1143000"/>
            <a:ext cx="1097280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58521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7 actividades entre el 07/09/2026 y el 18/10/2026, desde objetivos y alcance hasta documentación.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Dependencias: diseño → producción e inventario; integración y pruebas depende de producción y de ventas.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Críticas: diseño de simulación, producción e inventario, integración y pruebas.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Recursos: responsable del proyecto, computadora y herramientas de programación.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BD2791B-75B1-09C5-123B-E61B43B9A4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28" y="3997113"/>
            <a:ext cx="10607040" cy="2622296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561B17EB-B57B-204D-6394-5064E7810E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1572" y="1485488"/>
            <a:ext cx="5686988" cy="15982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320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ProjectLibre – Fábrica de galletas</a:t>
            </a:r>
            <a:endParaRPr lang="en-US" sz="3000" dirty="0"/>
          </a:p>
        </p:txBody>
      </p:sp>
      <p:sp>
        <p:nvSpPr>
          <p:cNvPr id="3" name="Subrayado"/>
          <p:cNvSpPr/>
          <p:nvPr/>
        </p:nvSpPr>
        <p:spPr>
          <a:xfrm>
            <a:off x="640080" y="1143000"/>
            <a:ext cx="1097280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58521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7 actividades entre el 23/08/2026 y el 04/10/2026 (6 semanas): objetivos y alcance, análisis de procesos, diseño del modelo, programación, escenarios, análisis de variables e informe.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Las actividades se traslapan por semana, de forma que cada una arranca cuando avanza la anterior.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Recursos: responsable, Camunda Modeler (diagramas de proceso) e IntelliJ IDEA (programación).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B7AE756-771D-7738-A6ED-7BDB444AC0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492" y="3929194"/>
            <a:ext cx="10486215" cy="2608766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902B547F-7126-EB8D-DC32-7F6EFA8041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9908" y="1779719"/>
            <a:ext cx="5678652" cy="19208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320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ProjectLibre – Banco Bansiso</a:t>
            </a:r>
            <a:endParaRPr lang="en-US" sz="3000" dirty="0"/>
          </a:p>
        </p:txBody>
      </p:sp>
      <p:sp>
        <p:nvSpPr>
          <p:cNvPr id="3" name="Subrayado"/>
          <p:cNvSpPr/>
          <p:nvPr/>
        </p:nvSpPr>
        <p:spPr>
          <a:xfrm>
            <a:off x="640080" y="1143000"/>
            <a:ext cx="1097280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58521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6 actividades entre el 01/09/2026 y el 31/10/2026: requerimientos, datos, diseño lógico, módulo de simulación, pruebas y documentación.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Secuencia lineal; críticas: diseño lógico, módulo de simulación y pruebas.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Recursos: responsable, computadora y Java con IDE (software libre).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Es una planeación académica, sin conexión a datos bancarios reales.</a:t>
            </a:r>
            <a:endParaRPr lang="en-US" sz="1700" dirty="0"/>
          </a:p>
        </p:txBody>
      </p:sp>
      <p:sp>
        <p:nvSpPr>
          <p:cNvPr id="5" name="Espacio para captura"/>
          <p:cNvSpPr/>
          <p:nvPr/>
        </p:nvSpPr>
        <p:spPr>
          <a:xfrm>
            <a:off x="6766560" y="1371600"/>
            <a:ext cx="4937760" cy="2286000"/>
          </a:xfrm>
          <a:prstGeom prst="rect">
            <a:avLst/>
          </a:prstGeom>
          <a:solidFill>
            <a:schemeClr val="bg2"/>
          </a:solidFill>
          <a:ln w="12700">
            <a:solidFill>
              <a:srgbClr val="9CA3AF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  <p:pic>
        <p:nvPicPr>
          <p:cNvPr id="26" name="Picture 25" descr="1979c005-8b30-4e37-901b-4d8afab4bf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8154" y="1371600"/>
            <a:ext cx="4934571" cy="228600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77236B04-3A79-2E30-A01D-069EC93515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1899" y="3964054"/>
            <a:ext cx="9413875" cy="278246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320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 de cambios – CR-2026-001</a:t>
            </a:r>
            <a:endParaRPr lang="en-US" sz="3000" dirty="0"/>
          </a:p>
        </p:txBody>
      </p:sp>
      <p:sp>
        <p:nvSpPr>
          <p:cNvPr id="3" name="Subrayado"/>
          <p:cNvSpPr/>
          <p:nvPr/>
        </p:nvSpPr>
        <p:spPr>
          <a:xfrm>
            <a:off x="640080" y="1143000"/>
            <a:ext cx="1097280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72800" cy="452628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Elemento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Registro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Proyecto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Simulación del proceso operativo y comercial de Corona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Actividad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Producción e inventario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Duración anterior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14 días (21/09/2026 – 04/10/2026)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Nueva duración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17 días (21/09/2026 – 07/10/2026)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Motivo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Ajustes necesarios en el modelo de producción e inventario (cambio simulado como ejercicio)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Impacto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 desplazan las actividades que dependen de ella: integración y pruebas, y documentación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Estado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Pendiente de aprobación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Herramienta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ProjectLibre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320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Jira: concepto y aplicación</a:t>
            </a:r>
            <a:endParaRPr lang="en-US" sz="3000" dirty="0"/>
          </a:p>
        </p:txBody>
      </p:sp>
      <p:sp>
        <p:nvSpPr>
          <p:cNvPr id="3" name="Subrayado"/>
          <p:cNvSpPr/>
          <p:nvPr/>
        </p:nvSpPr>
        <p:spPr>
          <a:xfrm>
            <a:off x="640080" y="1143000"/>
            <a:ext cx="1097280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73152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Jira gestiona el trabajo de forma ágil: backlog, historias de usuario, sprints y tableros.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Para cada proyecto se prepararon 10 historias de usuario a partir de sus requisitos y actividades.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Cada historia lleva descripción, prioridad, estimación en puntos y estado (Por hacer, En curso, Hecho).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Las historias dan trazabilidad: cada requisito del proyecto se vuelve una unidad de trabajo que se puede seguir.</a:t>
            </a:r>
            <a:endParaRPr lang="en-US" sz="1900" dirty="0"/>
          </a:p>
        </p:txBody>
      </p:sp>
      <p:sp>
        <p:nvSpPr>
          <p:cNvPr id="5" name="Tarjeta lateral"/>
          <p:cNvSpPr/>
          <p:nvPr/>
        </p:nvSpPr>
        <p:spPr>
          <a:xfrm>
            <a:off x="8412480" y="1463040"/>
            <a:ext cx="3291840" cy="3108960"/>
          </a:xfrm>
          <a:prstGeom prst="roundRect">
            <a:avLst>
              <a:gd name="adj" fmla="val 4412"/>
            </a:avLst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595360" y="173736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Ágil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595360" y="301752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bg1"/>
                </a:solidFill>
              </a:rPr>
              <a:t>Backlog, historias, puntos y sprints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320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Jira – Corona</a:t>
            </a:r>
            <a:endParaRPr lang="en-US" sz="3000" dirty="0"/>
          </a:p>
        </p:txBody>
      </p:sp>
      <p:sp>
        <p:nvSpPr>
          <p:cNvPr id="3" name="Subrayado"/>
          <p:cNvSpPr/>
          <p:nvPr/>
        </p:nvSpPr>
        <p:spPr>
          <a:xfrm>
            <a:off x="640080" y="1143000"/>
            <a:ext cx="1097280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0724970"/>
              </p:ext>
            </p:extLst>
          </p:nvPr>
        </p:nvGraphicFramePr>
        <p:xfrm>
          <a:off x="513080" y="1330960"/>
          <a:ext cx="5798820" cy="4334256"/>
        </p:xfrm>
        <a:graphic>
          <a:graphicData uri="http://schemas.openxmlformats.org/drawingml/2006/table">
            <a:tbl>
              <a:tblPr/>
              <a:tblGrid>
                <a:gridCol w="5464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569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77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6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7113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Clave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Historia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Prior.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Estado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SC-1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Definir objetivos y alcance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Alta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Listo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SC-2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Analizar los procesos de la empresa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Alta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Listo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SC-3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Diseñar la simulación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Alta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Listo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SC-4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Simular la elaboración de la cerveza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Alta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En curso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SC-5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Controlar inventario y almacenamiento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Alta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En curso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SC-6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Registrar pedidos y ventas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Media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En curso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SC-7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Simular distribución y entrega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Media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Por hacer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SC-8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Analizar escenarios de demanda y capacidad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Media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Por hacer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SC-9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Integrar módulos y realizar pruebas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Alta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Por hacer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SC-10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Documentar y presentar el proyecto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Media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Por hacer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  <p:pic>
        <p:nvPicPr>
          <p:cNvPr id="26" name="Picture 25" descr="e22262e4-b691-4839-a10a-518edf72f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6400" y="1906501"/>
            <a:ext cx="5095061" cy="223025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320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Jira – Fábrica de galletas</a:t>
            </a:r>
            <a:endParaRPr lang="en-US" sz="3000" dirty="0"/>
          </a:p>
        </p:txBody>
      </p:sp>
      <p:sp>
        <p:nvSpPr>
          <p:cNvPr id="3" name="Subrayado"/>
          <p:cNvSpPr/>
          <p:nvPr/>
        </p:nvSpPr>
        <p:spPr>
          <a:xfrm>
            <a:off x="640080" y="1143000"/>
            <a:ext cx="1097280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25880"/>
          <a:ext cx="7223760" cy="4279392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Clave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Historia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Prior.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Estado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SFG-1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Definir objetivos y alcance de la simulación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Alta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Listo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SFG-2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Analizar los procesos de la fábrica de galletas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Alta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Listo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SFG-3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Diseñar el modelo y el diagrama BPMN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Alta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Listo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SFG-4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Simular el mezclado y amasado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Alta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Listo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SFG-5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Simular moldeado, horneado, enfriamiento y empaque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Alta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En curso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SFG-6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Sincronizar estaciones con colas de espera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Alta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En curso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SFG-7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Panel de configuración de variables (Inputs)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Media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Por hacer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SFG-8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Dashboard de métricas en tiempo real (Outputs)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Media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Por hacer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SFG-9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Ejecutar escenarios y analizar resultados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Alta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Por hacer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SFG-10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Informe y presentación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Media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Por hacer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  <p:pic>
        <p:nvPicPr>
          <p:cNvPr id="26" name="Picture 25" descr="4098975b-8132-4804-b8a0-c0480527e2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2817605"/>
            <a:ext cx="3566160" cy="122278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320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Jira – Banco Bansiso</a:t>
            </a:r>
            <a:endParaRPr lang="en-US" sz="3000" dirty="0"/>
          </a:p>
        </p:txBody>
      </p:sp>
      <p:sp>
        <p:nvSpPr>
          <p:cNvPr id="3" name="Subrayado"/>
          <p:cNvSpPr/>
          <p:nvPr/>
        </p:nvSpPr>
        <p:spPr>
          <a:xfrm>
            <a:off x="640080" y="1143000"/>
            <a:ext cx="1097280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25880"/>
          <a:ext cx="7223760" cy="4224528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Clave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Historia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Prior.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Estado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SBB-1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Definir requerimientos y alcance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Alta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Listo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SBB-2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Recolectar tiempos de atención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Alta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Listo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SBB-3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Diseñar diagrama de flujo y modelo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Alta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Listo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SBB-4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Generar la llegada de clientes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Alta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En curso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SBB-5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Implementar la fila FIFO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Alta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En curso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SBB-6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Asignar clientes a ventanillas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Alta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En curso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SBB-7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Configurar número de ventanillas (N)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Alta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En curso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SBB-8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Calcular tiempo de espera promedio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Media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Por hacer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SBB-9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Contar clientes atendidos y en espera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Media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Por hacer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SBB-10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Generar informe final y documentar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Media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Por hacer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  <p:pic>
        <p:nvPicPr>
          <p:cNvPr id="26" name="Picture 25" descr="6f723049-1bf0-40b8-8c63-f15e8ad7b9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2648496"/>
            <a:ext cx="3566160" cy="156100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320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Trello: concepto y aplicación</a:t>
            </a:r>
            <a:endParaRPr lang="en-US" sz="3000" dirty="0"/>
          </a:p>
        </p:txBody>
      </p:sp>
      <p:sp>
        <p:nvSpPr>
          <p:cNvPr id="3" name="Subrayado"/>
          <p:cNvSpPr/>
          <p:nvPr/>
        </p:nvSpPr>
        <p:spPr>
          <a:xfrm>
            <a:off x="640080" y="1143000"/>
            <a:ext cx="1097280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73152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Trello organiza el trabajo en tableros, listas y tarjetas (enfoque Kanban).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Listas usadas: Por Hacer, En Proceso, En Revisión y Terminado.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Cada tarjeta es una actividad, con fecha de vencimiento y, si aplica, responsable.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Mover la tarjeta de lista muestra de un vistazo cómo va el proyecto.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Se configuró un tablero para Banco Bansiso.</a:t>
            </a:r>
            <a:endParaRPr lang="en-US" sz="1900" dirty="0"/>
          </a:p>
        </p:txBody>
      </p:sp>
      <p:sp>
        <p:nvSpPr>
          <p:cNvPr id="5" name="Tarjeta lateral"/>
          <p:cNvSpPr/>
          <p:nvPr/>
        </p:nvSpPr>
        <p:spPr>
          <a:xfrm>
            <a:off x="8412480" y="1463040"/>
            <a:ext cx="3291840" cy="3108960"/>
          </a:xfrm>
          <a:prstGeom prst="roundRect">
            <a:avLst>
              <a:gd name="adj" fmla="val 4412"/>
            </a:avLst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595360" y="173736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Kanban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595360" y="301752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bg1"/>
                </a:solidFill>
              </a:rPr>
              <a:t>Tableros, listas y tarjetas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320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Trello – Banco Bansiso</a:t>
            </a:r>
            <a:endParaRPr lang="en-US" sz="3000" dirty="0"/>
          </a:p>
        </p:txBody>
      </p:sp>
      <p:sp>
        <p:nvSpPr>
          <p:cNvPr id="3" name="Subrayado"/>
          <p:cNvSpPr/>
          <p:nvPr/>
        </p:nvSpPr>
        <p:spPr>
          <a:xfrm>
            <a:off x="640080" y="1143000"/>
            <a:ext cx="1097280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6631402"/>
              </p:ext>
            </p:extLst>
          </p:nvPr>
        </p:nvGraphicFramePr>
        <p:xfrm>
          <a:off x="297180" y="1179068"/>
          <a:ext cx="7223760" cy="320040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Tarjeta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Actividad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Vence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Lista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B01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Definición de requerimientos y alcance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13/09/2026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Terminado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B02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Recolección de datos y tiempos de atención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20/09/2026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Terminado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B03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Diseño lógico del diagrama de flujo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27/09/2026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Terminado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B04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Desarrollo del módulo de simulación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04/10/2026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En Proceso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B05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Pruebas y análisis de escenarios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11/10/2026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En Proceso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B06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Documentación y presentación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11/10/2026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Por Hacer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  <p:pic>
        <p:nvPicPr>
          <p:cNvPr id="26" name="Picture 25" descr="544cd142-7074-40c4-b91f-0ec91bb91f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200" y="4563364"/>
            <a:ext cx="8483600" cy="223113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320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 de cambios y seguimiento</a:t>
            </a:r>
            <a:endParaRPr lang="en-US" sz="3000" dirty="0"/>
          </a:p>
        </p:txBody>
      </p:sp>
      <p:sp>
        <p:nvSpPr>
          <p:cNvPr id="3" name="Subrayado"/>
          <p:cNvSpPr/>
          <p:nvPr/>
        </p:nvSpPr>
        <p:spPr>
          <a:xfrm>
            <a:off x="640080" y="1143000"/>
            <a:ext cx="1097280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109728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Flujo del cambio: identificar la necesidad → registrar la solicitud (CR) → analizar el impacto → decidir → actualizar la herramienta → comunicar → verificar y cerrar.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El seguimiento compara el avance real contra lo planeado.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ProjectLibre: fechas, dependencias, Gantt y cambios de duración.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Jira: estados de las historias y sprint.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Trello: movimiento de las tarjetas entre listas.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320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Comparación de herramientas</a:t>
            </a:r>
            <a:endParaRPr lang="en-US" sz="3000" dirty="0"/>
          </a:p>
        </p:txBody>
      </p:sp>
      <p:sp>
        <p:nvSpPr>
          <p:cNvPr id="3" name="Subrayado"/>
          <p:cNvSpPr/>
          <p:nvPr/>
        </p:nvSpPr>
        <p:spPr>
          <a:xfrm>
            <a:off x="640080" y="1143000"/>
            <a:ext cx="1097280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72800" cy="91440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Característica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ProjectLibre / MS Project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Jira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Trello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Enfoque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Predictivo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Ágil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Kanban visual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Uso principal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Gantt y cronograma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Backlog y sprint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Flujo de tareas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Dependencias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Sí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Según configuración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Limitadas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Recursos y costos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Sí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Orientado al trabajo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Básico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Historias de usuario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es su fin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Sí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Mediante tarjetas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Seguimiento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Gantt / línea base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Estados y métricas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Tarjetas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320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Resultados obtenidos</a:t>
            </a:r>
            <a:endParaRPr lang="en-US" sz="3000" dirty="0"/>
          </a:p>
        </p:txBody>
      </p:sp>
      <p:sp>
        <p:nvSpPr>
          <p:cNvPr id="3" name="Subrayado"/>
          <p:cNvSpPr/>
          <p:nvPr/>
        </p:nvSpPr>
        <p:spPr>
          <a:xfrm>
            <a:off x="640080" y="1143000"/>
            <a:ext cx="1097280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109728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Se construyeron tres cronogramas con actividades, dependencias y recursos.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Se prepararon 10 historias de usuario por proyecto en Jira (30 en total).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Se armó un tablero en Trello para Banco Bansiso.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Seguimiento al 3 de octubre de 2026: Corona, 3 de 7 actividades terminadas, 2 en proceso y 2 pendientes; fábrica de galletas, investigación y planificación terminadas y programación en proceso; Banco Bansiso, 3 de 6 terminadas, 2 en proceso y 1 pendiente.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Se registró un cambio controlado (CR-2026-001) y se analizó su efecto sobre las actividades posteriores.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320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Análisis de la práctica</a:t>
            </a:r>
            <a:endParaRPr lang="en-US" sz="3000" dirty="0"/>
          </a:p>
        </p:txBody>
      </p:sp>
      <p:sp>
        <p:nvSpPr>
          <p:cNvPr id="3" name="Subrayado"/>
          <p:cNvSpPr/>
          <p:nvPr/>
        </p:nvSpPr>
        <p:spPr>
          <a:xfrm>
            <a:off x="640080" y="1143000"/>
            <a:ext cx="1097280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109728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ProjectLibre mostró cómo las dependencias propagan un retraso al resto del cronograma.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Jira convirtió los requisitos en trabajo medible, con prioridad y estimación.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Trello dio una vista rápida y sencilla del estado de cada actividad.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El control de cambios mostró que conviene medir el impacto antes de modificar el plan.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Las tres herramientas se complementan: ninguna sustituye a las otras.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320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Conclusiones</a:t>
            </a:r>
            <a:endParaRPr lang="en-US" sz="3000" dirty="0"/>
          </a:p>
        </p:txBody>
      </p:sp>
      <p:sp>
        <p:nvSpPr>
          <p:cNvPr id="3" name="Subrayado"/>
          <p:cNvSpPr/>
          <p:nvPr/>
        </p:nvSpPr>
        <p:spPr>
          <a:xfrm>
            <a:off x="640080" y="1143000"/>
            <a:ext cx="1097280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109728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La gestión apoyada en herramientas facilita organizar, seguir y controlar proyectos de TI.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El Gantt y las dependencias permiten anticipar el efecto de un cambio.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Jira ordena los requisitos como historias y las prioriza; Trello hace visible el flujo de trabajo.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El control de cambios deja registro de cada modificación y de su impacto.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La práctica permitió aplicar los contenidos de la Unidad 5 a tres proyectos distintos.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hlinkClick r:id="rId2"/>
            <a:extLst>
              <a:ext uri="{FF2B5EF4-FFF2-40B4-BE49-F238E27FC236}">
                <a16:creationId xmlns:a16="http://schemas.microsoft.com/office/drawing/2014/main" id="{A2AB0011-D31D-99FB-BE69-FE2C25A7F220}"/>
              </a:ext>
            </a:extLst>
          </p:cNvPr>
          <p:cNvSpPr txBox="1"/>
          <p:nvPr/>
        </p:nvSpPr>
        <p:spPr>
          <a:xfrm>
            <a:off x="1056640" y="2273667"/>
            <a:ext cx="105765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/>
              <a:t>https://github.com/Cynthia21Morales/GPTI_CynthiaJasmineMT/blob/main/GPTI-Tema-5/Actividad%205.2%20Reporte%20de%20Practica_CynthiaMorales_GPTI_7ISCM.docx.pptx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085F2598-93FA-4241-AFA9-C8BF89BFC4BF}"/>
              </a:ext>
            </a:extLst>
          </p:cNvPr>
          <p:cNvSpPr txBox="1"/>
          <p:nvPr/>
        </p:nvSpPr>
        <p:spPr>
          <a:xfrm>
            <a:off x="894080" y="1432560"/>
            <a:ext cx="9215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ANEXO LINK DE LA ACTIVIDAD SOLICITADA Y ENVIADA POR GITHUB:</a:t>
            </a:r>
          </a:p>
        </p:txBody>
      </p:sp>
    </p:spTree>
    <p:extLst>
      <p:ext uri="{BB962C8B-B14F-4D97-AF65-F5344CB8AC3E}">
        <p14:creationId xmlns:p14="http://schemas.microsoft.com/office/powerpoint/2010/main" val="1222491846"/>
      </p:ext>
    </p:extLst>
  </p:cSld>
  <p:clrMapOvr>
    <a:masterClrMapping/>
  </p:clrMapOvr>
</p:sld>
</file>

<file path=ppt/theme/theme1.xml><?xml version="1.0" encoding="utf-8"?>
<a:theme xmlns:a="http://schemas.openxmlformats.org/drawingml/2006/main" name="GestionTI">
  <a:themeElements>
    <a:clrScheme name="GestionTI">
      <a:dk1>
        <a:srgbClr val="1F2937"/>
      </a:dk1>
      <a:lt1>
        <a:srgbClr val="FFFFFF"/>
      </a:lt1>
      <a:dk2>
        <a:srgbClr val="0F3D4C"/>
      </a:dk2>
      <a:lt2>
        <a:srgbClr val="EEF4F4"/>
      </a:lt2>
      <a:accent1>
        <a:srgbClr val="0E7C86"/>
      </a:accent1>
      <a:accent2>
        <a:srgbClr val="F59E0B"/>
      </a:accent2>
      <a:accent3>
        <a:srgbClr val="2563EB"/>
      </a:accent3>
      <a:accent4>
        <a:srgbClr val="16A34A"/>
      </a:accent4>
      <a:accent5>
        <a:srgbClr val="DC2626"/>
      </a:accent5>
      <a:accent6>
        <a:srgbClr val="6B7280"/>
      </a:accent6>
      <a:hlink>
        <a:srgbClr val="0E7C86"/>
      </a:hlink>
      <a:folHlink>
        <a:srgbClr val="6B7280"/>
      </a:folHlink>
    </a:clrScheme>
    <a:fontScheme name="GestionTI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1747</Words>
  <Application>Microsoft Office PowerPoint</Application>
  <PresentationFormat>Panorámica</PresentationFormat>
  <Paragraphs>393</Paragraphs>
  <Slides>22</Slides>
  <Notes>21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6" baseType="lpstr">
      <vt:lpstr>Arial</vt:lpstr>
      <vt:lpstr>Calibri</vt:lpstr>
      <vt:lpstr>Georgia</vt:lpstr>
      <vt:lpstr>GestionTI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Reporte de práctica</dc:title>
  <dc:subject>PptxGenJS Presentation</dc:subject>
  <dc:creator>PptxGenJS</dc:creator>
  <cp:lastModifiedBy>Jasmine Morales</cp:lastModifiedBy>
  <cp:revision>4</cp:revision>
  <dcterms:created xsi:type="dcterms:W3CDTF">2026-10-03T21:04:16Z</dcterms:created>
  <dcterms:modified xsi:type="dcterms:W3CDTF">2026-10-04T01:36:13Z</dcterms:modified>
</cp:coreProperties>
</file>